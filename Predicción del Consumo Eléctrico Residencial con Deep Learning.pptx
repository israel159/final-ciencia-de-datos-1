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6256000" cy="9144000"/>
  <p:notesSz cx="9144000" cy="16256000"/>
  <p:embeddedFontLs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Quattrocento Sans" panose="020B0604020202020204" charset="0"/>
      <p:regular r:id="rId33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6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Energía (MWh)</c:v>
                </c:pt>
              </c:strCache>
            </c:strRef>
          </c:tx>
          <c:spPr>
            <a:solidFill>
              <a:srgbClr val="52796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Cocina</c:v>
                </c:pt>
                <c:pt idx="1">
                  <c:v>Lavandería</c:v>
                </c:pt>
                <c:pt idx="2">
                  <c:v>Calefacción/AC</c:v>
                </c:pt>
                <c:pt idx="3">
                  <c:v>No medido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2.7</c:v>
                </c:pt>
                <c:pt idx="2">
                  <c:v>13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A2-4C55-9947-852AF58F3C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MWh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332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4332"/>
                </a:solidFill>
                <a:latin typeface="Arial"/>
              </a:rPr>
              <a:t>Consumo Promedio por Mes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 promedio</c:v>
                </c:pt>
              </c:strCache>
            </c:strRef>
          </c:tx>
          <c:spPr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</c:v>
                </c:pt>
                <c:pt idx="1">
                  <c:v>1.9</c:v>
                </c:pt>
                <c:pt idx="2">
                  <c:v>1.6</c:v>
                </c:pt>
                <c:pt idx="3">
                  <c:v>1.3</c:v>
                </c:pt>
                <c:pt idx="4">
                  <c:v>1.1000000000000001</c:v>
                </c:pt>
                <c:pt idx="5">
                  <c:v>0.9</c:v>
                </c:pt>
                <c:pt idx="6">
                  <c:v>0.8</c:v>
                </c:pt>
                <c:pt idx="7">
                  <c:v>0.8</c:v>
                </c:pt>
                <c:pt idx="8">
                  <c:v>0.9</c:v>
                </c:pt>
                <c:pt idx="9">
                  <c:v>1.2</c:v>
                </c:pt>
                <c:pt idx="10">
                  <c:v>1.6</c:v>
                </c:pt>
                <c:pt idx="11">
                  <c:v>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1B1-4501-8DA2-CBB4ECEF5C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kW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332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4332"/>
                </a:solidFill>
                <a:latin typeface="Arial"/>
              </a:rPr>
              <a:t>Consumo Promedio por Hora del Día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 promedio</c:v>
                </c:pt>
              </c:strCache>
            </c:strRef>
          </c:tx>
          <c:spPr>
            <a:ln w="25400" cap="flat">
              <a:solidFill>
                <a:srgbClr val="52796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2796F"/>
              </a:solidFill>
              <a:ln w="9525" cap="flat">
                <a:solidFill>
                  <a:srgbClr val="52796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10</c:v>
                </c:pt>
                <c:pt idx="7">
                  <c:v>12</c:v>
                </c:pt>
                <c:pt idx="8">
                  <c:v>14</c:v>
                </c:pt>
                <c:pt idx="9">
                  <c:v>16</c:v>
                </c:pt>
                <c:pt idx="10">
                  <c:v>18</c:v>
                </c:pt>
                <c:pt idx="11">
                  <c:v>20</c:v>
                </c:pt>
                <c:pt idx="12">
                  <c:v>22</c:v>
                </c:pt>
                <c:pt idx="13">
                  <c:v>23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0.6</c:v>
                </c:pt>
                <c:pt idx="1">
                  <c:v>0.5</c:v>
                </c:pt>
                <c:pt idx="2">
                  <c:v>0.4</c:v>
                </c:pt>
                <c:pt idx="3">
                  <c:v>0.8</c:v>
                </c:pt>
                <c:pt idx="4">
                  <c:v>1.4</c:v>
                </c:pt>
                <c:pt idx="5">
                  <c:v>1.3</c:v>
                </c:pt>
                <c:pt idx="6">
                  <c:v>0.9</c:v>
                </c:pt>
                <c:pt idx="7">
                  <c:v>1</c:v>
                </c:pt>
                <c:pt idx="8">
                  <c:v>0.9</c:v>
                </c:pt>
                <c:pt idx="9">
                  <c:v>1.1000000000000001</c:v>
                </c:pt>
                <c:pt idx="10">
                  <c:v>1.8</c:v>
                </c:pt>
                <c:pt idx="11">
                  <c:v>2.2000000000000002</c:v>
                </c:pt>
                <c:pt idx="12">
                  <c:v>1.5</c:v>
                </c:pt>
                <c:pt idx="13">
                  <c:v>0.8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13C-409C-8578-57A379D455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Hora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kW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332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4332"/>
                </a:solidFill>
                <a:latin typeface="Arial"/>
              </a:rPr>
              <a:t>Día de Semana vs Fin de Semana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Día de semana</c:v>
                </c:pt>
              </c:strCache>
            </c:strRef>
          </c:tx>
          <c:spPr>
            <a:ln w="25400" cap="flat">
              <a:solidFill>
                <a:srgbClr val="1B43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19</c:v>
                </c:pt>
                <c:pt idx="7">
                  <c:v>20</c:v>
                </c:pt>
                <c:pt idx="8">
                  <c:v>22</c:v>
                </c:pt>
                <c:pt idx="9">
                  <c:v>23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</c:v>
                </c:pt>
                <c:pt idx="1">
                  <c:v>0.4</c:v>
                </c:pt>
                <c:pt idx="2">
                  <c:v>1.5</c:v>
                </c:pt>
                <c:pt idx="3">
                  <c:v>0.8</c:v>
                </c:pt>
                <c:pt idx="4">
                  <c:v>0.9</c:v>
                </c:pt>
                <c:pt idx="5">
                  <c:v>1</c:v>
                </c:pt>
                <c:pt idx="6">
                  <c:v>2</c:v>
                </c:pt>
                <c:pt idx="7">
                  <c:v>2.2999999999999998</c:v>
                </c:pt>
                <c:pt idx="8">
                  <c:v>1.4</c:v>
                </c:pt>
                <c:pt idx="9">
                  <c:v>0.9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B48-42AC-8963-325C8F8E67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 de semana</c:v>
                </c:pt>
              </c:strCache>
            </c:strRef>
          </c:tx>
          <c:spPr>
            <a:ln w="254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19</c:v>
                </c:pt>
                <c:pt idx="7">
                  <c:v>20</c:v>
                </c:pt>
                <c:pt idx="8">
                  <c:v>22</c:v>
                </c:pt>
                <c:pt idx="9">
                  <c:v>23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0.9</c:v>
                </c:pt>
                <c:pt idx="1">
                  <c:v>0.6</c:v>
                </c:pt>
                <c:pt idx="2">
                  <c:v>0.9</c:v>
                </c:pt>
                <c:pt idx="3">
                  <c:v>1.1000000000000001</c:v>
                </c:pt>
                <c:pt idx="4">
                  <c:v>1.2</c:v>
                </c:pt>
                <c:pt idx="5">
                  <c:v>1.3</c:v>
                </c:pt>
                <c:pt idx="6">
                  <c:v>1.8</c:v>
                </c:pt>
                <c:pt idx="7">
                  <c:v>2</c:v>
                </c:pt>
                <c:pt idx="8">
                  <c:v>1.6</c:v>
                </c:pt>
                <c:pt idx="9">
                  <c:v>1.1000000000000001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B48-42AC-8963-325C8F8E67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Hora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kW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s-PE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Arial"/>
              </a:rPr>
              <a:t>Pérdida (MSE) vs Épocas — RNN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1B43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75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</c:v>
                </c:pt>
                <c:pt idx="1">
                  <c:v>0.25</c:v>
                </c:pt>
                <c:pt idx="2">
                  <c:v>0.15</c:v>
                </c:pt>
                <c:pt idx="3">
                  <c:v>0.1</c:v>
                </c:pt>
                <c:pt idx="4">
                  <c:v>7.0000000000000007E-2</c:v>
                </c:pt>
                <c:pt idx="5">
                  <c:v>0.05</c:v>
                </c:pt>
                <c:pt idx="6">
                  <c:v>0.04</c:v>
                </c:pt>
                <c:pt idx="7">
                  <c:v>3.5000000000000003E-2</c:v>
                </c:pt>
                <c:pt idx="8">
                  <c:v>3.3000000000000002E-2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04A-431F-83F5-AA0ED617A9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75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0.52</c:v>
                </c:pt>
                <c:pt idx="1">
                  <c:v>0.28000000000000003</c:v>
                </c:pt>
                <c:pt idx="2">
                  <c:v>0.18</c:v>
                </c:pt>
                <c:pt idx="3">
                  <c:v>0.12</c:v>
                </c:pt>
                <c:pt idx="4">
                  <c:v>0.09</c:v>
                </c:pt>
                <c:pt idx="5">
                  <c:v>7.0000000000000007E-2</c:v>
                </c:pt>
                <c:pt idx="6">
                  <c:v>0.06</c:v>
                </c:pt>
                <c:pt idx="7">
                  <c:v>5.5E-2</c:v>
                </c:pt>
                <c:pt idx="8">
                  <c:v>5.3999999999999999E-2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04A-431F-83F5-AA0ED617A9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Época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MSE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s-PE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Arial"/>
              </a:rPr>
              <a:t>RMSE esperado (menor = mejor)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(kW)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RNN</c:v>
                </c:pt>
                <c:pt idx="1">
                  <c:v>GRU</c:v>
                </c:pt>
                <c:pt idx="2">
                  <c:v>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0.45</c:v>
                </c:pt>
                <c:pt idx="1">
                  <c:v>0.38</c:v>
                </c:pt>
                <c:pt idx="2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1B-4EA3-AD66-1F89CB1AC7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Arial"/>
              </a:rPr>
              <a:t>R² esperado (mayor = mejor)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52796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RNN</c:v>
                </c:pt>
                <c:pt idx="1">
                  <c:v>GRU</c:v>
                </c:pt>
                <c:pt idx="2">
                  <c:v>LSTM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</c:v>
                </c:pt>
                <c:pt idx="1">
                  <c:v>0.8</c:v>
                </c:pt>
                <c:pt idx="2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BC-4CF7-BB84-DC14945626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Arial"/>
              </a:rPr>
              <a:t>RMSE (kW) — menor es mejor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RNN</c:v>
                </c:pt>
                <c:pt idx="1">
                  <c:v>LSTM</c:v>
                </c:pt>
                <c:pt idx="2">
                  <c:v>GRU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0.51300000000000001</c:v>
                </c:pt>
                <c:pt idx="1">
                  <c:v>0.4924</c:v>
                </c:pt>
                <c:pt idx="2">
                  <c:v>0.49180000000000001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80-4F2F-8261-8D54F70EE5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Arial"/>
              </a:rPr>
              <a:t>R² — mayor es mejor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52796F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RNN</c:v>
                </c:pt>
                <c:pt idx="1">
                  <c:v>LSTM</c:v>
                </c:pt>
                <c:pt idx="2">
                  <c:v>GRU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0.56379999999999997</c:v>
                </c:pt>
                <c:pt idx="1">
                  <c:v>0.59809999999999997</c:v>
                </c:pt>
                <c:pt idx="2">
                  <c:v>0.59909999999999997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3C-47D2-97A9-DCC75FF48C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s-P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48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l-ciencia-de-datos-1-xqsqpv2etcyhj85o26zk56.streamlit.app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exdz5ytndv64/mnt/agents/output/prediccion-consumo/images/1_Abstract_Neural_Network_Web_on_Dark.pn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4332">
                  <a:alpha val="94000"/>
                </a:srgbClr>
              </a:gs>
              <a:gs pos="55000">
                <a:srgbClr val="1B4332">
                  <a:alpha val="91000"/>
                </a:srgbClr>
              </a:gs>
              <a:gs pos="100000">
                <a:srgbClr val="1B4332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b="1" kern="0" spc="3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PROYECTO DE CIENCIA DE DATOS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16000" y="2794000"/>
            <a:ext cx="863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Predicción del Consumo</a:t>
            </a:r>
            <a:endParaRPr lang="en-US" sz="4200" dirty="0"/>
          </a:p>
          <a:p>
            <a:pPr algn="l">
              <a:lnSpc>
                <a:spcPct val="12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Eléctrico Residencial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016000" y="4572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para Series Temporales con PySpark</a:t>
            </a:r>
            <a:endParaRPr lang="en-US" sz="2000" dirty="0"/>
          </a:p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Neuronales Recurrentes: RNN · LSTM · GRU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16000" y="5842000"/>
            <a:ext cx="1524000" cy="381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5"/>
          <p:cNvSpPr/>
          <p:nvPr/>
        </p:nvSpPr>
        <p:spPr>
          <a:xfrm>
            <a:off x="9652000" y="8103721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UCI Household Power Consumption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2,075,259 mediciones · 47 meses · Diciembre 2006 – Noviembre 2010</a:t>
            </a:r>
            <a:endParaRPr lang="en-US" sz="16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49839D4-9F7E-4519-BE25-6271B0F43B99}"/>
              </a:ext>
            </a:extLst>
          </p:cNvPr>
          <p:cNvSpPr/>
          <p:nvPr/>
        </p:nvSpPr>
        <p:spPr>
          <a:xfrm>
            <a:off x="1016000" y="6169959"/>
            <a:ext cx="2360706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dirty="0" err="1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Integrantes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000" dirty="0" err="1">
                <a:solidFill>
                  <a:srgbClr val="FFFFFF"/>
                </a:solidFill>
                <a:latin typeface="Quattrocento Sans" pitchFamily="34" charset="0"/>
              </a:rPr>
              <a:t>Mejia,Edwin</a:t>
            </a:r>
            <a:endParaRPr lang="en-US" sz="2000" dirty="0">
              <a:solidFill>
                <a:srgbClr val="FFFFFF"/>
              </a:solidFill>
              <a:latin typeface="Quattrocento Sans" pitchFamily="34" charset="0"/>
            </a:endParaRP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</a:rPr>
              <a:t>Tovar, Renzo</a:t>
            </a:r>
          </a:p>
          <a:p>
            <a:pPr marL="342900" indent="-342900" algn="l">
              <a:lnSpc>
                <a:spcPct val="150000"/>
              </a:lnSpc>
              <a:buFontTx/>
              <a:buChar char="-"/>
            </a:pPr>
            <a:r>
              <a:rPr lang="en-US" sz="2000" dirty="0" err="1">
                <a:solidFill>
                  <a:srgbClr val="FFFFFF"/>
                </a:solidFill>
                <a:latin typeface="Quattrocento Sans" pitchFamily="34" charset="0"/>
              </a:rPr>
              <a:t>Untiveros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</a:rPr>
              <a:t>, Alonso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kern="0" spc="4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CONTENIDO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9906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 de Contenidos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14732000" cy="25400"/>
          </a:xfrm>
          <a:prstGeom prst="rect">
            <a:avLst/>
          </a:prstGeom>
          <a:solidFill>
            <a:srgbClr val="E8EDE9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68500"/>
            <a:ext cx="4737100" cy="19685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95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16000" y="2768600"/>
            <a:ext cx="42291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Exploración de Datos con PySpark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492500"/>
            <a:ext cx="4229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 · Patrones · Fundamentos físicos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53100" y="1968500"/>
            <a:ext cx="4749800" cy="19685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0" name="Text 8"/>
          <p:cNvSpPr/>
          <p:nvPr/>
        </p:nvSpPr>
        <p:spPr>
          <a:xfrm>
            <a:off x="6007100" y="2095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07100" y="2768600"/>
            <a:ext cx="4241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Preprocesamiento e Ingeniería de Features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07100" y="3492500"/>
            <a:ext cx="4241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híbrido · Lags · Codificación cíclica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756900" y="1968500"/>
            <a:ext cx="4737100" cy="19685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4" name="Text 12"/>
          <p:cNvSpPr/>
          <p:nvPr/>
        </p:nvSpPr>
        <p:spPr>
          <a:xfrm>
            <a:off x="11010900" y="2095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1010900" y="2768600"/>
            <a:ext cx="42291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RNN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10900" y="3492500"/>
            <a:ext cx="4229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Neuronal Recurrente · Baseline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2000" y="4191000"/>
            <a:ext cx="4737100" cy="19685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016000" y="4991100"/>
            <a:ext cx="42291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LSTM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715000"/>
            <a:ext cx="4229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Short-Term Memory · 3 compuertas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53100" y="4191000"/>
            <a:ext cx="4749800" cy="19685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22" name="Text 20"/>
          <p:cNvSpPr/>
          <p:nvPr/>
        </p:nvSpPr>
        <p:spPr>
          <a:xfrm>
            <a:off x="60071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007100" y="4991100"/>
            <a:ext cx="4241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GRU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07100" y="5715000"/>
            <a:ext cx="4241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Gated Recurrent Unit · Eficiencia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756900" y="4191000"/>
            <a:ext cx="4737100" cy="19685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26" name="Text 24"/>
          <p:cNvSpPr/>
          <p:nvPr/>
        </p:nvSpPr>
        <p:spPr>
          <a:xfrm>
            <a:off x="11010900" y="431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1010900" y="4991100"/>
            <a:ext cx="42291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 y Comparación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10900" y="5715000"/>
            <a:ext cx="4229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Métricas · Comparativa · App Streamlit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2000" y="6413500"/>
            <a:ext cx="4737100" cy="19685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6540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016000" y="7213600"/>
            <a:ext cx="42291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7937500"/>
            <a:ext cx="42291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Hallazgos · Trabajo futuro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016000" y="3429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Exploración de Datos con PySpark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254500"/>
            <a:ext cx="1016000" cy="381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508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Análisis del dataset UCI Household Power Consumption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2,075,259 mediciones minuto a minuto durante 47 meses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Contexto del Problema y Dataset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1879600"/>
            <a:ext cx="685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Predecir la </a:t>
            </a: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potencia activa global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(Global_active_power) de un hogar residencial usando variables eléctricas: voltaje, potencia reactiva, intensidad de corriente y tres submediciones de áreas específicas.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Dataset: </a:t>
            </a: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UCI Household Power Consumption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mediciones minuto a minuto durante 47 meses (dic. 2006 – nov. 2010).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1460500"/>
            <a:ext cx="7366000" cy="21590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158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Criterios Big Data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82000" y="20066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2.07M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382000" y="2565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68000" y="20066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130 MB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0668000" y="2565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Tamaño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954000" y="20066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47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2954000" y="25654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82000" y="29972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min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382000" y="3556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Granularidad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68000" y="29972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0668000" y="3556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954000" y="2997200"/>
            <a:ext cx="20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3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1.25%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2954000" y="35560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Valores nulos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2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del Dataset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419600"/>
          <a:ext cx="14732000" cy="42545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81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81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Unidad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Descripción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Global_active_power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Potencia activa total — variable objetivo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Global_reactive_power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Potencia reactiva total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Voltage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Voltaje de red (nominal 230V)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Global_intensity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Intensidad de corriente global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Sub_metering_1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Cocina (lavadora, horno, micro)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Sub_metering_2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Lavandería (lavadora, secadora, nevera)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Sub_metering_3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Calefacción y aire acondicionado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762000" y="8788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UCI Machine Learning Repository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PySpark y Hallazgos del EDA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¿Por qué PySpark?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1930400"/>
            <a:ext cx="304800" cy="304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1930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93800" y="1879600"/>
            <a:ext cx="6426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2M+ registros exceden la capacidad de pandas en memoria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2000" y="2565400"/>
            <a:ext cx="304800" cy="304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2565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93800" y="2514600"/>
            <a:ext cx="6426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Operaciones distribuibles: lectura, agregación, feature engineering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2000" y="3200400"/>
            <a:ext cx="304800" cy="304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3200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93800" y="3149600"/>
            <a:ext cx="6426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Manejo nativo de valores nulos representados con '?' en el dataset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2000" y="3835400"/>
            <a:ext cx="304800" cy="3048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3835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93800" y="3784600"/>
            <a:ext cx="6426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Escalabilidad: de local a clusters de producción sin modificaciones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28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Hallazgos Clave del EDA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128000" y="1879600"/>
            <a:ext cx="7366000" cy="25400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28" name="Text 26"/>
          <p:cNvSpPr/>
          <p:nvPr/>
        </p:nvSpPr>
        <p:spPr>
          <a:xfrm>
            <a:off x="8382000" y="2006600"/>
            <a:ext cx="685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Valores faltantes: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1.25% (25,979 registros) en bloques temporales completos → justifica interpolación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82000" y="2717800"/>
            <a:ext cx="685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Patrón estacional: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Consumo bajo en verano, alto en invierno (calefacción). Pico diario a las 20:00h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82000" y="3429000"/>
            <a:ext cx="685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Weekday vs Weekend: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Días de semana muestran valle 9:00-16:00; fines de semana consumo más distribuido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62000" y="457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Distribución del Consumo por Área</a:t>
            </a:r>
            <a:endParaRPr lang="en-US" sz="18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762000" y="5080000"/>
          <a:ext cx="7112000" cy="349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Shape 30"/>
          <p:cNvSpPr/>
          <p:nvPr/>
        </p:nvSpPr>
        <p:spPr>
          <a:xfrm>
            <a:off x="8382000" y="5080000"/>
            <a:ext cx="7112000" cy="34925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34" name="Text 31"/>
          <p:cNvSpPr/>
          <p:nvPr/>
        </p:nvSpPr>
        <p:spPr>
          <a:xfrm>
            <a:off x="8699500" y="5270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 Clave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699500" y="5778500"/>
            <a:ext cx="647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submedidores solo capturan el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55%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 consumo total. La energía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"No medida" (~45%)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corresponde a iluminación, computadoras, televisores y electrodomésticos menores.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Creamos la variable </a:t>
            </a:r>
            <a:r>
              <a:rPr lang="en-US" sz="16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Unmetered_energy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como predictor adicional: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Unmetered = (GAP × 1000/60) − Sub_1 − Sub_2 − Sub_3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Fundamentos Físicos — Ley de Ohm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Correlación Potencia ↔ Intensidad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19050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correlación casi perfecta entre </a:t>
            </a: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Global_active_power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 </a:t>
            </a: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Global_intensity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 ≈ 0.9999) está fundamentada en la </a:t>
            </a: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Ley de Ohm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en-US" sz="2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= V × I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circuitos residenciales, V ≈ 230V constante → P e I son </a:t>
            </a: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directamente proporcionales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165600"/>
            <a:ext cx="7112000" cy="6985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41910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Conclusión:</a:t>
            </a: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Global_intensity se </a:t>
            </a:r>
            <a:r>
              <a:rPr lang="en-US" sz="13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excluye como predictor</a:t>
            </a: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aporta información nueva, solo replica la variable objetivo (multicolinealidad extrema).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8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¿Por qué el Voltaje NO predice el consumo?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905000"/>
          <a:ext cx="7112000" cy="2032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Desv. Est.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CV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Voltage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240.84 V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3.24 V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1.35%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Global_active_power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1.092 kW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1.057 kW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96.86%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Global_intensity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4.628 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4.444 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96.04%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382000" y="40386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voltaje es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casi invariante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(CV = 1.35%): varía apenas 3V respecto a su media. Una variable con tan poca variabilidad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puede explicar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una variable que fluctúa un 97%.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Físicamente: el voltaje de red es estable por diseño. El consumo se controla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modificando la corriente demandada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(encendiendo/apagando electrodomésticos).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62000" y="5943600"/>
            <a:ext cx="14732000" cy="2603500"/>
          </a:xfrm>
          <a:prstGeom prst="roundRect">
            <a:avLst>
              <a:gd name="adj" fmla="val 3000"/>
            </a:avLst>
          </a:prstGeom>
          <a:solidFill>
            <a:srgbClr val="E8EDE9"/>
          </a:solidFill>
          <a:ln/>
        </p:spPr>
      </p:sp>
      <p:sp>
        <p:nvSpPr>
          <p:cNvPr id="21" name="Text 18"/>
          <p:cNvSpPr/>
          <p:nvPr/>
        </p:nvSpPr>
        <p:spPr>
          <a:xfrm>
            <a:off x="1079500" y="603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Estrategia de Preprocesamiento Propuesta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79500" y="6477000"/>
            <a:ext cx="444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Imputación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Forward-fill + interpolación lineal por bloques temporales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51500" y="6477000"/>
            <a:ext cx="444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Agregación horaria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Reducción de dimensionalidad obligatoria: 2M → ~35K registros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23500" y="6477000"/>
            <a:ext cx="495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Lags multiescala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Ventanas temporales: 1h, 2h, 3h, 24h, 168h, 720h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79500" y="7518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Transformación log1p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variables con alta asimetría (CV &gt; 400%)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51500" y="75184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Normalización MinMax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Escalado [0,1] para redes neuronales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270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Visualizaciones — Patrones Temporales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graphicFrame>
        <p:nvGraphicFramePr>
          <p:cNvPr id="13" name="Chart 0"/>
          <p:cNvGraphicFramePr/>
          <p:nvPr/>
        </p:nvGraphicFramePr>
        <p:xfrm>
          <a:off x="762000" y="1460500"/>
          <a:ext cx="7112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"/>
          <p:cNvGraphicFramePr/>
          <p:nvPr/>
        </p:nvGraphicFramePr>
        <p:xfrm>
          <a:off x="8382000" y="1460500"/>
          <a:ext cx="7112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2"/>
          <p:cNvGraphicFramePr/>
          <p:nvPr/>
        </p:nvGraphicFramePr>
        <p:xfrm>
          <a:off x="762000" y="5080000"/>
          <a:ext cx="7112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Shape 11"/>
          <p:cNvSpPr/>
          <p:nvPr/>
        </p:nvSpPr>
        <p:spPr>
          <a:xfrm>
            <a:off x="8382000" y="5080000"/>
            <a:ext cx="7112000" cy="33020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7" name="Text 12"/>
          <p:cNvSpPr/>
          <p:nvPr/>
        </p:nvSpPr>
        <p:spPr>
          <a:xfrm>
            <a:off x="8699500" y="52705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Interpretación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99500" y="5715000"/>
            <a:ext cx="647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Patrón mensual: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Refleja demanda de calefacción en invierno. Mínimo en agosto (~0.8 kW), máximo en enero (~2.1 kW).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Patrón horario: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Refleja rutina humana: mínimo 2-5h, repunte matutino 6-7h, valle diurno 9-16h, </a:t>
            </a:r>
            <a:r>
              <a:rPr lang="en-US" sz="15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pico vespertino 19-21h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Weekday vs Weekend: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Días laborables: pico agudo 7h (desayuno) + valle 9-16h (hogar vacío). Fines de semana: consumo más distribuido.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Preprocesamiento e Ingeniería de Características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254500"/>
            <a:ext cx="1016000" cy="381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508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híbrido pandas + PySpark: imputación, agregación horaria,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lags, codificación cíclica y escalado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24511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del Pipeline Híbrido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224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operaciones secuenciales + </a:t>
            </a: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PySpark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operaciones distribuibles — optimización en cada etapa.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1968500"/>
            <a:ext cx="6858000" cy="12700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2133600"/>
            <a:ext cx="1016000" cy="3048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21336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59000" y="21082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Paso 1: Lectura e Imputación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2500" y="2514600"/>
            <a:ext cx="641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Lectura CSV con separador ;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Parseo de fechas + Imputación ffill/bfill • Guardado en Parquet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7000" y="3238500"/>
            <a:ext cx="5080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3556000"/>
            <a:ext cx="6858000" cy="15240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3721100"/>
            <a:ext cx="1016000" cy="3048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37211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PySpark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59000" y="36957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Paso 2: Transformación Distribuible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2500" y="4102100"/>
            <a:ext cx="641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Lectura Parquet (lazy) • Componentes temporales (Year, Month, Day, Hour)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Agregación horaria (groupBy + agg) • Lags, ventanas móviles, codificación cíclica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Escalado Min-Max [0,1] • Persistencia en Parquet particionado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937000" y="5080000"/>
            <a:ext cx="508000" cy="254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397500"/>
            <a:ext cx="6858000" cy="762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53975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listo para RNN / LSTM / GRU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~35,000 registros horarios × 75+ variables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8000" y="196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¿Por qué esta arquitectura?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0" y="2413000"/>
          <a:ext cx="7366000" cy="36830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66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Operación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Herramienta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Razón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Lectura CSV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pandas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C-optimizado, más rápido para archivos pequeños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Imputación ffill/bfill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pandas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Secuencial por naturaleza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Agregación horaria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PySpark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groupBy distribuye 2M filas en paralelo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Lags masivos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PySpark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Window + lag vectorizado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66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Ventanas móviles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PySpark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rowsBetween en paralelo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98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Escalado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PySpark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min/max paralelizados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24511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Imputación y Agregación Horaria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Imputación: Forward-fill + Backward-fill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1905000"/>
            <a:ext cx="711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 25,979 nulos (1.25%) aparecen en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bloques temporales completos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cuando falla el sistema de adquisición, todas las mediciones de ese minuto se pierden simultáneamente.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Solución: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ffill() + bfill()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respeta la continuidad temporal.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2000" y="3454400"/>
            <a:ext cx="7112000" cy="457200"/>
          </a:xfrm>
          <a:prstGeom prst="roundRect">
            <a:avLst>
              <a:gd name="adj" fmla="val 4000"/>
            </a:avLst>
          </a:prstGeom>
          <a:solidFill>
            <a:srgbClr val="2D3436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454400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pdf[numeric_cols] = pdf[numeric_cols].ffill().bfill()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Agregación Horaria — Reducción 60×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2000" y="18796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Conversión de 2,075,259 mediciones minuto a minuto en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agregaciones horarias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No es pérdida de información, es </a:t>
            </a: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compresión de información relevante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3022600"/>
          <a:ext cx="7112000" cy="2286000"/>
        </p:xfrm>
        <a:graphic>
          <a:graphicData uri="http://schemas.openxmlformats.org/drawingml/2006/table">
            <a:tbl>
              <a:tblPr/>
              <a:tblGrid>
                <a:gridCol w="270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76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Agregación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Razón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Global_active_power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Promedio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Potencia instantánea promedio en la hora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Global_reactive_power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Promedio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Potencia reactiva promedio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Voltage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Promedio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Voltaje promedio (casi constante)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Sub_metering_1,2,3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Suma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Energía total Wh consumida en la hora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Unmetered_energy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Suma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Energía no medida acumulada por hora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62000" y="431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¿Por qué la agregación horaria es obligatoria?</a:t>
            </a:r>
            <a:endParaRPr lang="en-US" sz="18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800600"/>
          <a:ext cx="14732000" cy="3657600"/>
        </p:xfrm>
        <a:graphic>
          <a:graphicData uri="http://schemas.openxmlformats.org/drawingml/2006/table">
            <a:tbl>
              <a:tblPr/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Problema con datos minuto a minuto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Solución con agregación horaria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Dimensionalidad extrema:</a:t>
                      </a:r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2M+ registros generan secuencias enormes para LSTM/GRU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Reduce a ~35,000 registros horarios — secuencias manejables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Ruido de alta frecuencia:</a:t>
                      </a:r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Picos de 1 min por arranque de motores son eventos aleatorios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El promedio horario suaviza el ruido y revela tendencias reales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Patrones estacionales diluidos:</a:t>
                      </a:r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Variación minuto a minuto oscurece ciclos diarios/semanales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Resalta ciclos claros: madrugada baja, mañana sube, tarde valle, noche pico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Costo computacional:</a:t>
                      </a:r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Entrenar RNN con 2M+ pasos temporales es prohibitivo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Reduce tiempo de entrenamiento de </a:t>
                      </a: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horas a minutos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24511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Rezagadas y Codificación Cíclica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Lags Multiescala — 42 variables rezagadas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7112000" cy="2540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1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Tipo de lag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Horas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¿Qué captura?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Corto plazo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1, 2, 3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Inercia del consumo inmediato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Mediano plazo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6, 12, 24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Patrón diario: ayer a esta hora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Largo plazo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168 (1 semana)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Patrón semanal: mismo día semana pasada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Estacional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720 (~1 mes)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Tendencia mensual: invierno vs verano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Total: 42 lags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38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Codificación Cíclica — Proyección en círculo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382000" y="1905000"/>
            <a:ext cx="7112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Problema: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Hour 23 está lejos de 0 (en realidad son 1h). DayOfWeek 7 está lejos de 1.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Solución: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Proyectar en círculo unitario con seno y coseno.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382000" y="3073400"/>
            <a:ext cx="7112000" cy="457200"/>
          </a:xfrm>
          <a:prstGeom prst="roundRect">
            <a:avLst>
              <a:gd name="adj" fmla="val 4000"/>
            </a:avLst>
          </a:prstGeom>
          <a:solidFill>
            <a:srgbClr val="2D3436"/>
          </a:solidFill>
          <a:ln/>
        </p:spPr>
      </p:sp>
      <p:sp>
        <p:nvSpPr>
          <p:cNvPr id="18" name="Text 15"/>
          <p:cNvSpPr/>
          <p:nvPr/>
        </p:nvSpPr>
        <p:spPr>
          <a:xfrm>
            <a:off x="8636000" y="3073400"/>
            <a:ext cx="660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sin(2π × valor / período)    cos(2π × valor / período)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3606800"/>
          <a:ext cx="7112000" cy="11430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61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Variable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Período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Features generadas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61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Hour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 horas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Hour_sin, Hour_cos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DayOfWeek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 días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DOW_sin, DOW_cos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762000" y="48514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¿Por qué seno Y coseno?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solo seno, Hour=6 (sin=1) y Hour=18 (sin=-1) son indistinguibles en valor absoluto. Con seno + coseno, cada hora tiene una coordenada única (x,y) en el círculo. La distancia euclidiana entre dos puntos representa la distancia temporal real.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62000" y="584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Ventanas Móviles y Diferencias Temporales</a:t>
            </a:r>
            <a:endParaRPr lang="en-US" sz="18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248400"/>
          <a:ext cx="14732000" cy="22225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15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Cálculo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¿Qué captura?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GAP_ma24h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Media de últimas 24h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Tendencia del consumo en el último día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GAP_ma168h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Media de últimas 168h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Tendencia semanal del consumo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1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GAP_diff1h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Valor actual − valor hace 1h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Cambio inmediato en el consumo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1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GAP_diff24h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Valor actual − valor hace 24h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Cambio respecto a ayer a esta hora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GAP_diff168h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Valor actual − valor hace 168h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Cambio respecto a la semana pasada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8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24511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Transformación Log1p y División Temporal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Transformación log1p(x) = ln(1+x)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18796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Sub_metering_1 (cocina, CV=548%) y Sub_metering_2 (lavandería, CV=448%) tienen largas colas derechas y alta concentración en cero. La transformación comprime la escala y acerca la distribución a la normalidad.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022600"/>
          <a:ext cx="5080000" cy="203200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Valor original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log1p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Interpretación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Inactividad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0.69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Uso bajo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1.79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Uso moderado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4.39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Uso muy alto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838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División Temporal y Escalado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382000" y="19050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Escalado Min-Max [0,1]: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Las RNN (LSTM/GRU) son sensibles a la escala de entradas. Voltage (~240V) y Sub_metering (~0-80Wh) tienen rangos incomparables.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Crítico: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min/max calculados SOLO con Train → mismos parámetros para Val y Test.</a:t>
            </a:r>
            <a:endParaRPr lang="en-US" sz="15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3492500"/>
          <a:ext cx="7112000" cy="20320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Split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Años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Regs.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Propósito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2007-2008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~24K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70%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Aprender patrones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Validation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2009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~5K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15%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Ajustar hiperparámetros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Test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2010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~5K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15%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Evaluación final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762000" y="546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Flujo Completo del Pipeline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762000" y="5943600"/>
            <a:ext cx="2222500" cy="6096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/>
        </p:spPr>
      </p:sp>
      <p:sp>
        <p:nvSpPr>
          <p:cNvPr id="21" name="Text 17"/>
          <p:cNvSpPr/>
          <p:nvPr/>
        </p:nvSpPr>
        <p:spPr>
          <a:xfrm>
            <a:off x="762000" y="5943600"/>
            <a:ext cx="222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Raw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2,075,259 registros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2984500" y="61595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3" name="Shape 19"/>
          <p:cNvSpPr/>
          <p:nvPr/>
        </p:nvSpPr>
        <p:spPr>
          <a:xfrm>
            <a:off x="3365500" y="5943600"/>
            <a:ext cx="2222500" cy="6096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</p:sp>
      <p:sp>
        <p:nvSpPr>
          <p:cNvPr id="24" name="Text 20"/>
          <p:cNvSpPr/>
          <p:nvPr/>
        </p:nvSpPr>
        <p:spPr>
          <a:xfrm>
            <a:off x="3365500" y="5943600"/>
            <a:ext cx="222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Imputación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ffill + bfill</a:t>
            </a:r>
            <a:endParaRPr lang="en-US" sz="1300" dirty="0"/>
          </a:p>
        </p:txBody>
      </p:sp>
      <p:sp>
        <p:nvSpPr>
          <p:cNvPr id="18" name="Shape 21"/>
          <p:cNvSpPr/>
          <p:nvPr/>
        </p:nvSpPr>
        <p:spPr>
          <a:xfrm>
            <a:off x="5588000" y="61595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6" name="Shape 22"/>
          <p:cNvSpPr/>
          <p:nvPr/>
        </p:nvSpPr>
        <p:spPr>
          <a:xfrm>
            <a:off x="5969000" y="5943600"/>
            <a:ext cx="2222500" cy="6096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</p:sp>
      <p:sp>
        <p:nvSpPr>
          <p:cNvPr id="27" name="Text 23"/>
          <p:cNvSpPr/>
          <p:nvPr/>
        </p:nvSpPr>
        <p:spPr>
          <a:xfrm>
            <a:off x="5969000" y="5943600"/>
            <a:ext cx="222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Agregación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~35,000 regs.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191500" y="61595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9" name="Shape 25"/>
          <p:cNvSpPr/>
          <p:nvPr/>
        </p:nvSpPr>
        <p:spPr>
          <a:xfrm>
            <a:off x="8572500" y="5943600"/>
            <a:ext cx="2222500" cy="6096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</p:sp>
      <p:sp>
        <p:nvSpPr>
          <p:cNvPr id="30" name="Text 26"/>
          <p:cNvSpPr/>
          <p:nvPr/>
        </p:nvSpPr>
        <p:spPr>
          <a:xfrm>
            <a:off x="8572500" y="5943600"/>
            <a:ext cx="222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Lags + Cíclica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 variables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0795000" y="61595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32" name="Shape 28"/>
          <p:cNvSpPr/>
          <p:nvPr/>
        </p:nvSpPr>
        <p:spPr>
          <a:xfrm>
            <a:off x="11176000" y="5943600"/>
            <a:ext cx="2222500" cy="6096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</p:sp>
      <p:sp>
        <p:nvSpPr>
          <p:cNvPr id="33" name="Text 29"/>
          <p:cNvSpPr/>
          <p:nvPr/>
        </p:nvSpPr>
        <p:spPr>
          <a:xfrm>
            <a:off x="11176000" y="5943600"/>
            <a:ext cx="222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log1p + MinMax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Escalado [0,1]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3398500" y="6159500"/>
            <a:ext cx="381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35" name="Shape 31"/>
          <p:cNvSpPr/>
          <p:nvPr/>
        </p:nvSpPr>
        <p:spPr>
          <a:xfrm>
            <a:off x="13779500" y="5943600"/>
            <a:ext cx="1714500" cy="609600"/>
          </a:xfrm>
          <a:prstGeom prst="roundRect">
            <a:avLst>
              <a:gd name="adj" fmla="val 6000"/>
            </a:avLst>
          </a:prstGeom>
          <a:solidFill>
            <a:srgbClr val="E9C46A"/>
          </a:solidFill>
          <a:ln/>
        </p:spPr>
      </p:sp>
      <p:sp>
        <p:nvSpPr>
          <p:cNvPr id="36" name="Text 32"/>
          <p:cNvSpPr/>
          <p:nvPr/>
        </p:nvSpPr>
        <p:spPr>
          <a:xfrm>
            <a:off x="13779500" y="5943600"/>
            <a:ext cx="171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RNN / LSTM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 GRU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762000" y="6654800"/>
            <a:ext cx="2222500" cy="609600"/>
          </a:xfrm>
          <a:prstGeom prst="roundRect">
            <a:avLst>
              <a:gd name="adj" fmla="val 6000"/>
            </a:avLst>
          </a:prstGeom>
          <a:solidFill>
            <a:srgbClr val="E8EDE9"/>
          </a:solidFill>
          <a:ln/>
        </p:spPr>
      </p:sp>
      <p:sp>
        <p:nvSpPr>
          <p:cNvPr id="38" name="Text 34"/>
          <p:cNvSpPr/>
          <p:nvPr/>
        </p:nvSpPr>
        <p:spPr>
          <a:xfrm>
            <a:off x="762000" y="6654800"/>
            <a:ext cx="222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Ventanas móviles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ma24h, ma168h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3365500" y="6654800"/>
            <a:ext cx="2222500" cy="609600"/>
          </a:xfrm>
          <a:prstGeom prst="roundRect">
            <a:avLst>
              <a:gd name="adj" fmla="val 6000"/>
            </a:avLst>
          </a:prstGeom>
          <a:solidFill>
            <a:srgbClr val="E8EDE9"/>
          </a:solidFill>
          <a:ln/>
        </p:spPr>
      </p:sp>
      <p:sp>
        <p:nvSpPr>
          <p:cNvPr id="40" name="Text 36"/>
          <p:cNvSpPr/>
          <p:nvPr/>
        </p:nvSpPr>
        <p:spPr>
          <a:xfrm>
            <a:off x="3365500" y="6654800"/>
            <a:ext cx="222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Diferencias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diff1h, diff24h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5969000" y="6654800"/>
            <a:ext cx="2222500" cy="609600"/>
          </a:xfrm>
          <a:prstGeom prst="roundRect">
            <a:avLst>
              <a:gd name="adj" fmla="val 6000"/>
            </a:avLst>
          </a:prstGeom>
          <a:solidFill>
            <a:srgbClr val="E8EDE9"/>
          </a:solidFill>
          <a:ln/>
        </p:spPr>
      </p:sp>
      <p:sp>
        <p:nvSpPr>
          <p:cNvPr id="42" name="Text 38"/>
          <p:cNvSpPr/>
          <p:nvPr/>
        </p:nvSpPr>
        <p:spPr>
          <a:xfrm>
            <a:off x="5969000" y="6654800"/>
            <a:ext cx="222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Unmetered_energy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45% del consumo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8572500" y="6654800"/>
            <a:ext cx="2222500" cy="609600"/>
          </a:xfrm>
          <a:prstGeom prst="roundRect">
            <a:avLst>
              <a:gd name="adj" fmla="val 6000"/>
            </a:avLst>
          </a:prstGeom>
          <a:solidFill>
            <a:srgbClr val="E8EDE9"/>
          </a:solidFill>
          <a:ln/>
        </p:spPr>
      </p:sp>
      <p:sp>
        <p:nvSpPr>
          <p:cNvPr id="44" name="Text 40"/>
          <p:cNvSpPr/>
          <p:nvPr/>
        </p:nvSpPr>
        <p:spPr>
          <a:xfrm>
            <a:off x="8572500" y="6654800"/>
            <a:ext cx="222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División temporal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/ Val / Test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11176000" y="6654800"/>
            <a:ext cx="4318000" cy="609600"/>
          </a:xfrm>
          <a:prstGeom prst="roundRect">
            <a:avLst>
              <a:gd name="adj" fmla="val 6000"/>
            </a:avLst>
          </a:prstGeom>
          <a:solidFill>
            <a:srgbClr val="E8EDE9"/>
          </a:solidFill>
          <a:ln/>
        </p:spPr>
      </p:sp>
      <p:sp>
        <p:nvSpPr>
          <p:cNvPr id="46" name="Text 42"/>
          <p:cNvSpPr/>
          <p:nvPr/>
        </p:nvSpPr>
        <p:spPr>
          <a:xfrm>
            <a:off x="11176000" y="6654800"/>
            <a:ext cx="431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Guardar scaler.json</a:t>
            </a: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predicciones en tiempo real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016000" y="3429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RNN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254500"/>
            <a:ext cx="1016000" cy="381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508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Neuronal Recurrente como baseline: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memoria de secuencias para predicción de consumo eléctrico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47752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es una Red Neuronal Recurrente?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1524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Tipo de red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¿Recuerda el pasado?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Ejemplo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 densa tradicional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52796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Predice precio de casa solo con metros cuadrados de HOY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1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RNN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Sí — estado oculto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Predice consumo eléctrico usando las últimas 24 horas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62000" y="3238500"/>
            <a:ext cx="7112000" cy="18796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3" name="Text 12"/>
          <p:cNvSpPr/>
          <p:nvPr/>
        </p:nvSpPr>
        <p:spPr>
          <a:xfrm>
            <a:off x="1016000" y="3302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Analogía: leer un libro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16000" y="36830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 densa: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lee con los ojos vendados — solo ve la página actual, sin contexto.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RNN: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lee normal — para entender la página 100, recuerda las páginas 1-99. Mantiene un "resumen mental".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82000" y="3238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Funcionamiento Interno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382000" y="3683000"/>
            <a:ext cx="7112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cada paso de tiempo, la RNN: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Recibe la entrada de esa hora (voltaje, consumo, etc.)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Lee su memoria anterior (estado oculto)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Actualiza su memoria y produce una salida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62000" y="508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"memoria" = Estado Oculto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62000" y="5740400"/>
            <a:ext cx="1473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memoria es un </a:t>
            </a:r>
            <a:r>
              <a:rPr lang="en-US" sz="12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de números</a:t>
            </a: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la red aprende a actualizar en cada paso. No es legible para humanos, pero codifica patrones como "las noches consumen más" o "los martes cenamos tarde". Al procesar 24 horas de historia, el estado oculto resume toda la secuencia en una representación compacta.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2000" y="6451600"/>
            <a:ext cx="14732000" cy="2222500"/>
          </a:xfrm>
          <a:prstGeom prst="roundRect">
            <a:avLst>
              <a:gd name="adj" fmla="val 3000"/>
            </a:avLst>
          </a:prstGeom>
          <a:solidFill>
            <a:srgbClr val="1B4332"/>
          </a:solidFill>
          <a:ln/>
        </p:spPr>
      </p:sp>
      <p:sp>
        <p:nvSpPr>
          <p:cNvPr id="22" name="Text 19"/>
          <p:cNvSpPr/>
          <p:nvPr/>
        </p:nvSpPr>
        <p:spPr>
          <a:xfrm>
            <a:off x="1079500" y="6527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nuestro problema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79500" y="6908800"/>
            <a:ext cx="14097000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Objetivo: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¿Cuánto consumirá la casa a las 20:00?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Entrada: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Las últimas 24 horas de consumo, voltaje, submediciones, lags, codificación cíclica de hora/día/mes...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Salida: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Predicción de Global_active_power en kW (escalado, luego desescalado)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47752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y Tuning de la RNN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del Modelo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1930400"/>
            <a:ext cx="7112000" cy="698500"/>
          </a:xfrm>
          <a:prstGeom prst="roundRect">
            <a:avLst>
              <a:gd name="adj" fmla="val 4000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19304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ENTRADA: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Ventana de 24 horas × 75 variables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37000" y="26289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2819400"/>
            <a:ext cx="7112000" cy="6985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28194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1: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SimpleRNN(64 neuronas) + return_sequences=True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"expertos": detectan madrugada, pico matutino, fin de semana...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7000" y="35179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3708400"/>
            <a:ext cx="7112000" cy="444500"/>
          </a:xfrm>
          <a:prstGeom prst="roundRect">
            <a:avLst>
              <a:gd name="adj" fmla="val 4000"/>
            </a:avLst>
          </a:prstGeom>
          <a:solidFill>
            <a:srgbClr val="264653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3708400"/>
            <a:ext cx="673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Dropout(0.2) — apaga 20% de neuronas aleatoriamente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7000" y="41529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4343400"/>
            <a:ext cx="7112000" cy="6985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43434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2: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SimpleRNN(32 neuronas) + return_sequences=False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Combina 64 expertos en 32 "super-expertos" con visión más amplia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937000" y="50419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232400"/>
            <a:ext cx="7112000" cy="444500"/>
          </a:xfrm>
          <a:prstGeom prst="roundRect">
            <a:avLst>
              <a:gd name="adj" fmla="val 4000"/>
            </a:avLst>
          </a:prstGeom>
          <a:solidFill>
            <a:srgbClr val="264653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5232400"/>
            <a:ext cx="673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Dropout(0.2) — regularización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937000" y="56769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000" y="5867400"/>
            <a:ext cx="7112000" cy="508000"/>
          </a:xfrm>
          <a:prstGeom prst="roundRect">
            <a:avLst>
              <a:gd name="adj" fmla="val 4000"/>
            </a:avLst>
          </a:prstGeom>
          <a:solidFill>
            <a:srgbClr val="52796F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58674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3: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Dense(16, relu) — 16 "tomadores de decisión"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937000" y="63754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6565900"/>
            <a:ext cx="7112000" cy="508000"/>
          </a:xfrm>
          <a:prstGeom prst="roundRect">
            <a:avLst>
              <a:gd name="adj" fmla="val 4000"/>
            </a:avLst>
          </a:prstGeom>
          <a:solidFill>
            <a:srgbClr val="E9C46A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65659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4:</a:t>
            </a:r>
            <a:r>
              <a:rPr lang="en-US" sz="14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Dense(1) — PREDICCIÓN FINAL en kW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8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Tuning de Hiperparámetros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382000" y="19050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81 combinaciones probadas en grid search. Los "mandos de control" que ajustamos antes de entrenar: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603500"/>
          <a:ext cx="7112000" cy="2921000"/>
        </p:xfrm>
        <a:graphic>
          <a:graphicData uri="http://schemas.openxmlformats.org/drawingml/2006/table">
            <a:tbl>
              <a:tblPr/>
              <a:tblGrid>
                <a:gridCol w="199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1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80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Hiperparámetro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Valores probados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¿Qué controla?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8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lookback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12, 24, 48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Cuántas horas 'recuerda'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8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units_capa1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32, 64, 128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Número de 'expertos' en capa 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8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dropout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0.1, 0.2, 0.3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% de neuronas que 'descansan'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8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batch_size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16, 32, 64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Ejemplos antes de ajustar pesos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96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Mejor config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24h, 64u, 0.2, 32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8382000" y="56515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38" name="Text 35"/>
          <p:cNvSpPr/>
          <p:nvPr/>
        </p:nvSpPr>
        <p:spPr>
          <a:xfrm>
            <a:off x="8636000" y="57404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¿Por qué ganó esta configuración?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636000" y="61214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24h captura 1 ciclo diario completo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64 neuronas aprenden patrones sin sobreajustar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Dropout 0.2 fuerza a no depender de ninguna neurona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Batch 32 equilibra velocidad y estabilidad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47752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Entrenamiento y Evaluación RNN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Callbacks de Control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7112000" cy="2032000"/>
        </p:xfrm>
        <a:graphic>
          <a:graphicData uri="http://schemas.openxmlformats.org/drawingml/2006/table">
            <a:tbl>
              <a:tblPr/>
              <a:tblGrid>
                <a:gridCol w="199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Callback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Analogía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Función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EarlyStopping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Termómetro de cocina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Detiene si validación no mejora en 10 épocas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ReduceLROnPlateau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Bajar el fuego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Reduce velocidad de aprendizaje si se estanca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ModelCheckpoint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Foto al plato perfecto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Guarda el mejor modelo automáticamente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62000" y="412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Convergencia del Entrenamiento</a:t>
            </a:r>
            <a:endParaRPr lang="en-US" sz="18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762000" y="4546600"/>
          <a:ext cx="7112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3"/>
          <p:cNvSpPr/>
          <p:nvPr/>
        </p:nvSpPr>
        <p:spPr>
          <a:xfrm>
            <a:off x="838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Predicciones Autoregresivas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382000" y="18796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Método:</a:t>
            </a: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Predigo la hora 25, uso esa predicción como entrada para la hora 26, y así sucesivamente. Es como "caminar con los ojos cerrados": cada paso depende del anterior.</a:t>
            </a:r>
            <a:endParaRPr lang="en-US" sz="13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 evaluaron horizontes de </a:t>
            </a: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horas</a:t>
            </a: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</a:t>
            </a:r>
            <a:r>
              <a:rPr lang="en-US" sz="13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168 horas (1 semana)</a:t>
            </a: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382000" y="3276600"/>
            <a:ext cx="7112000" cy="18034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20" name="Text 16"/>
          <p:cNvSpPr/>
          <p:nvPr/>
        </p:nvSpPr>
        <p:spPr>
          <a:xfrm>
            <a:off x="8636000" y="3378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Limitación de RNN: Memoria Corta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636000" y="3784600"/>
            <a:ext cx="66040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RNN olvida patrones lejanos en el tiempo. Cuando predice diciembre, solo "recuerda" las últimas 24-48 horas — no que enero también fue alto por calefacción.</a:t>
            </a:r>
            <a:endParaRPr lang="en-US" sz="14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Solución: LSTM y GRU</a:t>
            </a: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compuertas de olvido.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8382000" y="5181600"/>
            <a:ext cx="7112000" cy="3429000"/>
          </a:xfrm>
          <a:prstGeom prst="roundRect">
            <a:avLst>
              <a:gd name="adj" fmla="val 3000"/>
            </a:avLst>
          </a:prstGeom>
          <a:solidFill>
            <a:srgbClr val="1B4332"/>
          </a:solidFill>
          <a:ln/>
        </p:spPr>
      </p:sp>
      <p:sp>
        <p:nvSpPr>
          <p:cNvPr id="23" name="Text 19"/>
          <p:cNvSpPr/>
          <p:nvPr/>
        </p:nvSpPr>
        <p:spPr>
          <a:xfrm>
            <a:off x="8699500" y="52832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Resumen RNN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699500" y="5689600"/>
            <a:ext cx="6477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Tiene memoria (estado oculto)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Procesa secuencias temporales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Baseline sólido para comparar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Arquitectura: 2 capas (64→32) + Dropout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Tuning: 81 combinaciones probadas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Mejor: 24h, 64u, 0.2, batch 32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 Limitación: Olvida patrones lejanos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016000" y="3429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LSTM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254500"/>
            <a:ext cx="1016000" cy="381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508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Short-Term Memory: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memoria de largo y corto plazo con tres compuertas inteligentes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70993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es LSTM? Las 3 Compuertas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7112000" cy="1524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Letra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Significado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Analogía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Long (Largo)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Recuerda mucho tiempo atrás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Short (Corto)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También recuerda lo reciente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Term Memory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 capacidad de recordar a través del tiempo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62000" y="3238500"/>
            <a:ext cx="7112000" cy="12700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5" name="Text 12"/>
          <p:cNvSpPr/>
          <p:nvPr/>
        </p:nvSpPr>
        <p:spPr>
          <a:xfrm>
            <a:off x="1016000" y="33655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Analogía del diario personal:</a:t>
            </a: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 RNN lee un libro de 500 páginas y olvida la página 1 al llegar a la 500. La LSTM lleva un </a:t>
            </a:r>
            <a:r>
              <a:rPr lang="en-US" sz="12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diario</a:t>
            </a: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donde anota lo importante, decide qué guardar y qué descartar — y al llegar a la página 500, aún recuerda la 50.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8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3 Compuertas del Corazón de LSTM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82000" y="1905000"/>
            <a:ext cx="7112000" cy="1143000"/>
          </a:xfrm>
          <a:prstGeom prst="roundRect">
            <a:avLst>
              <a:gd name="adj" fmla="val 4000"/>
            </a:avLst>
          </a:prstGeom>
          <a:solidFill>
            <a:srgbClr val="FEF3E2"/>
          </a:solidFill>
          <a:ln/>
        </p:spPr>
      </p:sp>
      <p:sp>
        <p:nvSpPr>
          <p:cNvPr id="18" name="Shape 15"/>
          <p:cNvSpPr/>
          <p:nvPr/>
        </p:nvSpPr>
        <p:spPr>
          <a:xfrm>
            <a:off x="8382000" y="1905000"/>
            <a:ext cx="76200" cy="11430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6"/>
          <p:cNvSpPr/>
          <p:nvPr/>
        </p:nvSpPr>
        <p:spPr>
          <a:xfrm>
            <a:off x="8636000" y="19685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4A26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🗑️ Compuerta de Olvido (Forget Gate)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36000" y="23114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"¿BORRO esto de mi diario?" Ayer llovió → hoy hace sol → SÍ, borro. Pero "¿borro que enero hace frío?" → NO, lo necesito para diciembre.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382000" y="3238500"/>
            <a:ext cx="7112000" cy="1143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22" name="Shape 19"/>
          <p:cNvSpPr/>
          <p:nvPr/>
        </p:nvSpPr>
        <p:spPr>
          <a:xfrm>
            <a:off x="8382000" y="3238500"/>
            <a:ext cx="76200" cy="1143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0"/>
          <p:cNvSpPr/>
          <p:nvPr/>
        </p:nvSpPr>
        <p:spPr>
          <a:xfrm>
            <a:off x="8636000" y="3302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A9D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📝 Compuerta de Entrada (Input Gate)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636000" y="36449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"¿ESCRIBO esto en mi diario?" Son las 8pm, consumo 3.5 kW (cenando) → SÍ, es patrón útil. Voltaje varió 0.1V → NO, es ruido.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382000" y="4572000"/>
            <a:ext cx="7112000" cy="114300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/>
        </p:spPr>
      </p:sp>
      <p:sp>
        <p:nvSpPr>
          <p:cNvPr id="26" name="Shape 23"/>
          <p:cNvSpPr/>
          <p:nvPr/>
        </p:nvSpPr>
        <p:spPr>
          <a:xfrm>
            <a:off x="8382000" y="4572000"/>
            <a:ext cx="76200" cy="11430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7" name="Text 24"/>
          <p:cNvSpPr/>
          <p:nvPr/>
        </p:nvSpPr>
        <p:spPr>
          <a:xfrm>
            <a:off x="8636000" y="46355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📢 Compuerta de Salida (Output Gate)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36000" y="49784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"¿MUESTRO esto para mi predicción?" Quiero predecir 9pm → reviso diario: "8pm = cena = 3.5 kW" → SÍ, es relevante.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62000" y="4826000"/>
            <a:ext cx="7112000" cy="1524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30" name="Text 27"/>
          <p:cNvSpPr/>
          <p:nvPr/>
        </p:nvSpPr>
        <p:spPr>
          <a:xfrm>
            <a:off x="1016000" y="4953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Cell State = La Cinta Transportadora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16000" y="53086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 "cinta" que viaja a través del tiempo llevando la memoria. Las compuertas deciden qué añadir o quitar, pero la cinta SIEMPRE avanza. La RNN no tiene esta cinta — solo tiene "lo que recuerdo ahora".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62000" y="6705600"/>
            <a:ext cx="14732000" cy="1968500"/>
          </a:xfrm>
          <a:prstGeom prst="roundRect">
            <a:avLst>
              <a:gd name="adj" fmla="val 3000"/>
            </a:avLst>
          </a:prstGeom>
          <a:solidFill>
            <a:srgbClr val="E8EDE9"/>
          </a:solidFill>
          <a:ln/>
        </p:spPr>
      </p:sp>
      <p:sp>
        <p:nvSpPr>
          <p:cNvPr id="33" name="Text 30"/>
          <p:cNvSpPr/>
          <p:nvPr/>
        </p:nvSpPr>
        <p:spPr>
          <a:xfrm>
            <a:off x="1079500" y="67564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¿Por qué LSTM supera a RNN en nuestro problema?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79500" y="7162800"/>
            <a:ext cx="14097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Escenario: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Predecir consumo para diciembre. La RNN solo recuerda las últimas 24-48h → predice 2.6 kW (promedio reciente). La LSTM revisa su diario: "Enero 2007 = frío = ALTO", "Diciembre 2007 = frío = ALTO" → </a:t>
            </a:r>
            <a:r>
              <a:rPr lang="en-US" sz="15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predice 3.8 kW ajustado por estacionalidad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Captura ciclos semanales y estacionales que la RNN olvida.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70993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LSTM y Comparación con RNN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LSTM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1905000"/>
            <a:ext cx="7112000" cy="698500"/>
          </a:xfrm>
          <a:prstGeom prst="roundRect">
            <a:avLst>
              <a:gd name="adj" fmla="val 4000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19685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ENTRADA: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Ventana de 24h × 75 variables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37000" y="26035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2794000"/>
            <a:ext cx="7112000" cy="6985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27940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1: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LSTM(64 neuronas) + 3 compuertas each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"fábricas de memoria": detectan madrugada, pico, finde, invierno...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7000" y="34925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3683000"/>
            <a:ext cx="7112000" cy="444500"/>
          </a:xfrm>
          <a:prstGeom prst="roundRect">
            <a:avLst>
              <a:gd name="adj" fmla="val 4000"/>
            </a:avLst>
          </a:prstGeom>
          <a:solidFill>
            <a:srgbClr val="264653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3683000"/>
            <a:ext cx="673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Dropout(0.2)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7000" y="41275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4318000"/>
            <a:ext cx="7112000" cy="6985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43180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2: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LSTM(32 neuronas) + return_sequences=False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 toda la secuencia en "patrón diario tipo día laboral"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937000" y="50165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207000"/>
            <a:ext cx="7112000" cy="444500"/>
          </a:xfrm>
          <a:prstGeom prst="roundRect">
            <a:avLst>
              <a:gd name="adj" fmla="val 4000"/>
            </a:avLst>
          </a:prstGeom>
          <a:solidFill>
            <a:srgbClr val="264653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5207000"/>
            <a:ext cx="673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Dropout(0.2)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937000" y="56515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000" y="5842000"/>
            <a:ext cx="7112000" cy="508000"/>
          </a:xfrm>
          <a:prstGeom prst="roundRect">
            <a:avLst>
              <a:gd name="adj" fmla="val 4000"/>
            </a:avLst>
          </a:prstGeom>
          <a:solidFill>
            <a:srgbClr val="52796F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58420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3: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Dense(16, relu)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937000" y="63500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6540500"/>
            <a:ext cx="7112000" cy="508000"/>
          </a:xfrm>
          <a:prstGeom prst="roundRect">
            <a:avLst>
              <a:gd name="adj" fmla="val 4000"/>
            </a:avLst>
          </a:prstGeom>
          <a:solidFill>
            <a:srgbClr val="E9C46A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65405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4:</a:t>
            </a:r>
            <a:r>
              <a:rPr lang="en-US" sz="14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Dense(1) — Predicción en kW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8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Comparación Controlada RNN vs LSTM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382000" y="1905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Solo cambia la arquitectura interna.</a:t>
            </a: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Todo lo demás es idéntico para una comparación justa: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603500"/>
          <a:ext cx="7112000" cy="3302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Aspecto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RNN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LSTM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Lookback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24h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Neuronas capa 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Neuronas capa 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Dropout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Batch size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Epochs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Callbacks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Early+Reduce+Checkpoint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Early+Reduce+Checkpoint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8382000" y="6096000"/>
            <a:ext cx="7112000" cy="11430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38" name="Text 35"/>
          <p:cNvSpPr/>
          <p:nvPr/>
        </p:nvSpPr>
        <p:spPr>
          <a:xfrm>
            <a:off x="8636000" y="61976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Hipótesis:</a:t>
            </a: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LSTM mejora 10-20% en RMSE al capturar ciclos semanales y estacionales que RNN olvida. Tuning: 4 combinaciones probadas.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016000" y="3429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GRU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254500"/>
            <a:ext cx="1016000" cy="381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508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Gated Recurrent Unit: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versión simplificada y eficiente de LSTM con 2 compuertas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94234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¿Qué es GRU? Eficiencia vs Potencia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7112000" cy="1270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Letra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Significado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Descripción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Gated (Con compuertas)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Tiene filtros inteligentes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Recurrent (Recurrente)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Procesa secuencias paso a paso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Unit (Unidad)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Una neurona completa con compuertas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2984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 vs GRU — La Analogía del Automóvil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62000" y="34290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35306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 = SUV de Lujo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" y="38608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 compuertas (olvido, entrada, salida)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 estados (cell state + hidden state)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Muy potente, pero pesado y más lento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Ideal para problemas muy complejos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62000" y="52705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9" name="Text 16"/>
          <p:cNvSpPr/>
          <p:nvPr/>
        </p:nvSpPr>
        <p:spPr>
          <a:xfrm>
            <a:off x="1016000" y="53721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 = Sedán Deportivo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16000" y="57023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 compuertas (update, reset)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 solo estado (fusionado)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~25-30% menos parámetros, más rápido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Ideal para problemas con ciclos claros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38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2 Compuertas de GRU</a:t>
            </a:r>
            <a:endParaRPr lang="en-US" sz="1800" dirty="0"/>
          </a:p>
        </p:txBody>
      </p:sp>
      <p:sp>
        <p:nvSpPr>
          <p:cNvPr id="13" name="Shape 19"/>
          <p:cNvSpPr/>
          <p:nvPr/>
        </p:nvSpPr>
        <p:spPr>
          <a:xfrm>
            <a:off x="8382000" y="1905000"/>
            <a:ext cx="7112000" cy="1270000"/>
          </a:xfrm>
          <a:prstGeom prst="roundRect">
            <a:avLst>
              <a:gd name="adj" fmla="val 4000"/>
            </a:avLst>
          </a:prstGeom>
          <a:solidFill>
            <a:srgbClr val="FEF3E2"/>
          </a:solidFill>
          <a:ln/>
        </p:spPr>
      </p:sp>
      <p:sp>
        <p:nvSpPr>
          <p:cNvPr id="23" name="Shape 20"/>
          <p:cNvSpPr/>
          <p:nvPr/>
        </p:nvSpPr>
        <p:spPr>
          <a:xfrm>
            <a:off x="8382000" y="1905000"/>
            <a:ext cx="76200" cy="12700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1"/>
          <p:cNvSpPr/>
          <p:nvPr/>
        </p:nvSpPr>
        <p:spPr>
          <a:xfrm>
            <a:off x="8636000" y="20066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4A26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🔄 Compuerta Update (Actualización)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636000" y="23368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Fusión de Forget + Input de LSTM. "¿Cuánto del estado anterior conservo y cuánto del nuevo añado?" Estado: "Invierno = frío" + Nuevo: "Febrero = frío" → Update: 90% anterior + 10% nuevo.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382000" y="3365500"/>
            <a:ext cx="7112000" cy="127000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/>
        </p:spPr>
      </p:sp>
      <p:sp>
        <p:nvSpPr>
          <p:cNvPr id="27" name="Shape 24"/>
          <p:cNvSpPr/>
          <p:nvPr/>
        </p:nvSpPr>
        <p:spPr>
          <a:xfrm>
            <a:off x="8382000" y="3365500"/>
            <a:ext cx="76200" cy="127000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8" name="Text 25"/>
          <p:cNvSpPr/>
          <p:nvPr/>
        </p:nvSpPr>
        <p:spPr>
          <a:xfrm>
            <a:off x="8636000" y="34671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↺ Compuerta Reset (Reinicio)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636000" y="38227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"¿Olvido el pasado para calcular el nuevo candidato?" Estado: "Verano = calor" + Nuevo: "Diciembre = frío" → Reset: "Olvido el verano, empiezo fresco con invierno".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382000" y="4953000"/>
            <a:ext cx="7112000" cy="20574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31" name="Text 28"/>
          <p:cNvSpPr/>
          <p:nvPr/>
        </p:nvSpPr>
        <p:spPr>
          <a:xfrm>
            <a:off x="8636000" y="5080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¿Por qué GRU puede ser suficiente?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636000" y="5486400"/>
            <a:ext cx="6604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Nuestro problema tiene ciclos </a:t>
            </a:r>
            <a:r>
              <a:rPr lang="en-US" sz="12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MUY claros y estables</a:t>
            </a: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Ciclo diario (24h): madrugada baja → mañana sube → tarde estable → noche pico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Ciclo semanal (168h): laboral vs fin de semana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Ciclo estacional: invierno alto, verano bajo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Un solo "update" basta: "¿sigo en invierno? sí → mantengo alto"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94234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GRU y Hipótesis Esperada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Arquitectura GRU — Misma estructura externa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1905000"/>
            <a:ext cx="7112000" cy="698500"/>
          </a:xfrm>
          <a:prstGeom prst="roundRect">
            <a:avLst>
              <a:gd name="adj" fmla="val 4000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1968500"/>
            <a:ext cx="673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ENTRADA: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Ventana de 24h × 75 variables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37000" y="26035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2794000"/>
            <a:ext cx="7112000" cy="6985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27940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1: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GRU(64 neuronas) + 2 compuertas each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"sedanes" — más rápidos que LSTM (menos parámetros)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7000" y="34925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3683000"/>
            <a:ext cx="7112000" cy="444500"/>
          </a:xfrm>
          <a:prstGeom prst="roundRect">
            <a:avLst>
              <a:gd name="adj" fmla="val 4000"/>
            </a:avLst>
          </a:prstGeom>
          <a:solidFill>
            <a:srgbClr val="264653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3683000"/>
            <a:ext cx="673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Dropout(0.2)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7000" y="41275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4318000"/>
            <a:ext cx="7112000" cy="6985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43180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2: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GRU(32 neuronas) + return_sequences=False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"sedanes" que resumen los 64 anteriores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937000" y="50165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5207000"/>
            <a:ext cx="7112000" cy="444500"/>
          </a:xfrm>
          <a:prstGeom prst="roundRect">
            <a:avLst>
              <a:gd name="adj" fmla="val 4000"/>
            </a:avLst>
          </a:prstGeom>
          <a:solidFill>
            <a:srgbClr val="264653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5207000"/>
            <a:ext cx="673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Dropout(0.2)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937000" y="56515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000" y="5842000"/>
            <a:ext cx="7112000" cy="508000"/>
          </a:xfrm>
          <a:prstGeom prst="roundRect">
            <a:avLst>
              <a:gd name="adj" fmla="val 4000"/>
            </a:avLst>
          </a:prstGeom>
          <a:solidFill>
            <a:srgbClr val="52796F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58420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3: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Dense(16, relu)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937000" y="6350000"/>
            <a:ext cx="254000" cy="190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2796F"/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6540500"/>
            <a:ext cx="7112000" cy="508000"/>
          </a:xfrm>
          <a:prstGeom prst="roundRect">
            <a:avLst>
              <a:gd name="adj" fmla="val 4000"/>
            </a:avLst>
          </a:prstGeom>
          <a:solidFill>
            <a:srgbClr val="E9C46A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6540500"/>
            <a:ext cx="673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 4:</a:t>
            </a:r>
            <a:r>
              <a:rPr lang="en-US" sz="1400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Dense(1) — Predicción en kW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82000" y="146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Hipótesis Esperada — Ranking de Métricas</a:t>
            </a:r>
            <a:endParaRPr lang="en-US" sz="18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8382000" y="1905000"/>
          <a:ext cx="7112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Chart 1"/>
          <p:cNvGraphicFramePr/>
          <p:nvPr/>
        </p:nvGraphicFramePr>
        <p:xfrm>
          <a:off x="8382000" y="4635500"/>
          <a:ext cx="7112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Text 33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8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 y Comparación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254500"/>
            <a:ext cx="1016000" cy="381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508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Evaluación controlada de los tres modelos: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métricas, gráficos y análisis de rendimiento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17475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Comparación de Métricas — Los 3 Modelos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2667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538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Modelo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MAE (kW)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RMSE (kW)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R²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Épocas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Interpretación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38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RNN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0.3508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0.5130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0.5638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26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Baseline — memoriza patrones recientes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38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LSTM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0.3360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0.4924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0.5981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25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2D3436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Mejor memoria — captura estacionalidad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38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GRU ⭐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0.3392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0.4918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0.5991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E9C46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Mejor trade-off precisión/velocidad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438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 Comparativa</a:t>
            </a:r>
            <a:endParaRPr lang="en-US" sz="18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762000" y="4851400"/>
          <a:ext cx="711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"/>
          <p:cNvGraphicFramePr/>
          <p:nvPr/>
        </p:nvGraphicFramePr>
        <p:xfrm>
          <a:off x="8382000" y="4851400"/>
          <a:ext cx="711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2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11747500" y="50800"/>
            <a:ext cx="21590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Exploración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Preprocesamiento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RNN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LSTM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GRU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Resultados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Conclusiones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Predicciones y App Streamlit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193800"/>
            <a:ext cx="762000" cy="508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Método Autoregresivo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18796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predecir el futuro sin datos futuros, usamos un </a:t>
            </a: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método autoregresivo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Predigo hora 25 con datos reales de horas 1-24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Uso la predicción 25 como entrada para predecir hora 26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Repito el proceso para el horizonte deseado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3556000"/>
            <a:ext cx="7112000" cy="15240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6576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Horizontes de Predicción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4038600"/>
            <a:ext cx="660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horas:</a:t>
            </a: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"Mañana consumiremos en promedio X kW"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168 horas (1 semana):</a:t>
            </a: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"La próxima semana, entre X y X kW"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error se acumula con cada paso autoregresivo.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8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Streamlit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2000" y="1879600"/>
            <a:ext cx="7112000" cy="320040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0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21" name="Text 19"/>
          <p:cNvSpPr/>
          <p:nvPr/>
        </p:nvSpPr>
        <p:spPr>
          <a:xfrm>
            <a:off x="8699500" y="2730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Interactivo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99500" y="31750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Aplicación desplegada para visualización interactiva de predicciones, métricas y análisis exploratorio del consumo eléctrico.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99500" y="4318000"/>
            <a:ext cx="647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u="sng" dirty="0">
                <a:solidFill>
                  <a:srgbClr val="E9C46A"/>
                </a:solidFill>
                <a:uFill>
                  <a:solidFill>
                    <a:srgbClr val="E9C46A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final-ciencia-de-datos-1.streamlit.app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2000" y="546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Funcionalidades de la App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5943600"/>
            <a:ext cx="3429000" cy="12446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6045200"/>
            <a:ext cx="355600" cy="330200"/>
          </a:xfrm>
          <a:custGeom>
            <a:avLst/>
            <a:gdLst/>
            <a:ahLst/>
            <a:cxnLst/>
            <a:rect l="l" t="t" r="r" b="b"/>
            <a:pathLst>
              <a:path w="355600" h="330200">
                <a:moveTo>
                  <a:pt x="177800" y="20638"/>
                </a:moveTo>
                <a:cubicBezTo>
                  <a:pt x="127917" y="20638"/>
                  <a:pt x="87974" y="44371"/>
                  <a:pt x="58896" y="72618"/>
                </a:cubicBezTo>
                <a:cubicBezTo>
                  <a:pt x="30004" y="100672"/>
                  <a:pt x="10680" y="134144"/>
                  <a:pt x="1482" y="157167"/>
                </a:cubicBezTo>
                <a:cubicBezTo>
                  <a:pt x="-556" y="162262"/>
                  <a:pt x="-556" y="167938"/>
                  <a:pt x="1482" y="173033"/>
                </a:cubicBezTo>
                <a:cubicBezTo>
                  <a:pt x="10680" y="196056"/>
                  <a:pt x="30004" y="229592"/>
                  <a:pt x="58896" y="257582"/>
                </a:cubicBezTo>
                <a:cubicBezTo>
                  <a:pt x="87974" y="285765"/>
                  <a:pt x="127917" y="309563"/>
                  <a:pt x="177800" y="309563"/>
                </a:cubicBezTo>
                <a:cubicBezTo>
                  <a:pt x="227683" y="309563"/>
                  <a:pt x="267626" y="285829"/>
                  <a:pt x="296704" y="257582"/>
                </a:cubicBezTo>
                <a:cubicBezTo>
                  <a:pt x="325596" y="229528"/>
                  <a:pt x="344920" y="196056"/>
                  <a:pt x="354118" y="173033"/>
                </a:cubicBezTo>
                <a:cubicBezTo>
                  <a:pt x="356156" y="167938"/>
                  <a:pt x="356156" y="162262"/>
                  <a:pt x="354118" y="157167"/>
                </a:cubicBezTo>
                <a:cubicBezTo>
                  <a:pt x="344920" y="134144"/>
                  <a:pt x="325596" y="100608"/>
                  <a:pt x="296704" y="72618"/>
                </a:cubicBezTo>
                <a:cubicBezTo>
                  <a:pt x="267626" y="44435"/>
                  <a:pt x="227683" y="20637"/>
                  <a:pt x="177800" y="20637"/>
                </a:cubicBezTo>
                <a:close/>
                <a:moveTo>
                  <a:pt x="88900" y="165100"/>
                </a:moveTo>
                <a:cubicBezTo>
                  <a:pt x="88900" y="113844"/>
                  <a:pt x="128735" y="72231"/>
                  <a:pt x="177800" y="72231"/>
                </a:cubicBezTo>
                <a:cubicBezTo>
                  <a:pt x="226865" y="72231"/>
                  <a:pt x="266700" y="113844"/>
                  <a:pt x="266700" y="165100"/>
                </a:cubicBezTo>
                <a:cubicBezTo>
                  <a:pt x="266700" y="216356"/>
                  <a:pt x="226865" y="257969"/>
                  <a:pt x="177800" y="257969"/>
                </a:cubicBezTo>
                <a:cubicBezTo>
                  <a:pt x="128735" y="257969"/>
                  <a:pt x="88900" y="216356"/>
                  <a:pt x="88900" y="165100"/>
                </a:cubicBezTo>
                <a:close/>
                <a:moveTo>
                  <a:pt x="177800" y="123825"/>
                </a:moveTo>
                <a:cubicBezTo>
                  <a:pt x="177800" y="146591"/>
                  <a:pt x="160082" y="165100"/>
                  <a:pt x="138289" y="165100"/>
                </a:cubicBezTo>
                <a:cubicBezTo>
                  <a:pt x="131189" y="165100"/>
                  <a:pt x="124522" y="163165"/>
                  <a:pt x="118719" y="159683"/>
                </a:cubicBezTo>
                <a:cubicBezTo>
                  <a:pt x="118101" y="166712"/>
                  <a:pt x="118657" y="173935"/>
                  <a:pt x="120509" y="181094"/>
                </a:cubicBezTo>
                <a:cubicBezTo>
                  <a:pt x="128967" y="214114"/>
                  <a:pt x="161502" y="233720"/>
                  <a:pt x="193111" y="224884"/>
                </a:cubicBezTo>
                <a:cubicBezTo>
                  <a:pt x="224719" y="216049"/>
                  <a:pt x="243487" y="182061"/>
                  <a:pt x="235029" y="149041"/>
                </a:cubicBezTo>
                <a:cubicBezTo>
                  <a:pt x="227498" y="119569"/>
                  <a:pt x="200766" y="100801"/>
                  <a:pt x="172614" y="103381"/>
                </a:cubicBezTo>
                <a:cubicBezTo>
                  <a:pt x="175886" y="109379"/>
                  <a:pt x="177800" y="116344"/>
                  <a:pt x="177800" y="123825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1460500" y="6045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Visualización EDA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6000" y="64516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Gráficos interactivos de patrones temporales y distribuciones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45000" y="5943600"/>
            <a:ext cx="3429000" cy="12446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30" name="Shape 28"/>
          <p:cNvSpPr/>
          <p:nvPr/>
        </p:nvSpPr>
        <p:spPr>
          <a:xfrm>
            <a:off x="4699000" y="6045200"/>
            <a:ext cx="355600" cy="330200"/>
          </a:xfrm>
          <a:custGeom>
            <a:avLst/>
            <a:gdLst/>
            <a:ahLst/>
            <a:cxnLst/>
            <a:rect l="l" t="t" r="r" b="b"/>
            <a:pathLst>
              <a:path w="355600" h="330200">
                <a:moveTo>
                  <a:pt x="83344" y="36116"/>
                </a:moveTo>
                <a:cubicBezTo>
                  <a:pt x="83344" y="16188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222"/>
                  <a:pt x="161131" y="20638"/>
                </a:cubicBezTo>
                <a:lnTo>
                  <a:pt x="161131" y="309563"/>
                </a:lnTo>
                <a:cubicBezTo>
                  <a:pt x="161131" y="320978"/>
                  <a:pt x="151199" y="330200"/>
                  <a:pt x="138906" y="330200"/>
                </a:cubicBezTo>
                <a:lnTo>
                  <a:pt x="116681" y="330200"/>
                </a:lnTo>
                <a:cubicBezTo>
                  <a:pt x="95984" y="330200"/>
                  <a:pt x="78551" y="317044"/>
                  <a:pt x="73620" y="299244"/>
                </a:cubicBezTo>
                <a:cubicBezTo>
                  <a:pt x="73134" y="299244"/>
                  <a:pt x="72717" y="299244"/>
                  <a:pt x="72231" y="299244"/>
                </a:cubicBezTo>
                <a:cubicBezTo>
                  <a:pt x="41533" y="299244"/>
                  <a:pt x="16669" y="276156"/>
                  <a:pt x="16669" y="247650"/>
                </a:cubicBezTo>
                <a:cubicBezTo>
                  <a:pt x="16669" y="236041"/>
                  <a:pt x="20836" y="225336"/>
                  <a:pt x="27781" y="216694"/>
                </a:cubicBezTo>
                <a:cubicBezTo>
                  <a:pt x="14307" y="207278"/>
                  <a:pt x="5556" y="192316"/>
                  <a:pt x="5556" y="175419"/>
                </a:cubicBezTo>
                <a:cubicBezTo>
                  <a:pt x="5556" y="155491"/>
                  <a:pt x="17780" y="138142"/>
                  <a:pt x="35560" y="129565"/>
                </a:cubicBezTo>
                <a:cubicBezTo>
                  <a:pt x="30629" y="121826"/>
                  <a:pt x="27781" y="112797"/>
                  <a:pt x="27781" y="103188"/>
                </a:cubicBezTo>
                <a:cubicBezTo>
                  <a:pt x="27781" y="74682"/>
                  <a:pt x="52645" y="51594"/>
                  <a:pt x="83344" y="51594"/>
                </a:cubicBezTo>
                <a:lnTo>
                  <a:pt x="83344" y="36116"/>
                </a:lnTo>
                <a:close/>
                <a:moveTo>
                  <a:pt x="272256" y="36116"/>
                </a:moveTo>
                <a:lnTo>
                  <a:pt x="272256" y="51594"/>
                </a:lnTo>
                <a:cubicBezTo>
                  <a:pt x="302955" y="51594"/>
                  <a:pt x="327819" y="74682"/>
                  <a:pt x="327819" y="103188"/>
                </a:cubicBezTo>
                <a:cubicBezTo>
                  <a:pt x="327819" y="112861"/>
                  <a:pt x="324971" y="121890"/>
                  <a:pt x="320040" y="129565"/>
                </a:cubicBezTo>
                <a:cubicBezTo>
                  <a:pt x="337889" y="138142"/>
                  <a:pt x="350044" y="155426"/>
                  <a:pt x="350044" y="175419"/>
                </a:cubicBezTo>
                <a:cubicBezTo>
                  <a:pt x="350044" y="192316"/>
                  <a:pt x="341293" y="207278"/>
                  <a:pt x="327819" y="216694"/>
                </a:cubicBezTo>
                <a:cubicBezTo>
                  <a:pt x="334764" y="225336"/>
                  <a:pt x="338931" y="236041"/>
                  <a:pt x="338931" y="247650"/>
                </a:cubicBezTo>
                <a:cubicBezTo>
                  <a:pt x="338931" y="276156"/>
                  <a:pt x="314067" y="299244"/>
                  <a:pt x="283369" y="299244"/>
                </a:cubicBezTo>
                <a:cubicBezTo>
                  <a:pt x="282883" y="299244"/>
                  <a:pt x="282466" y="299244"/>
                  <a:pt x="281980" y="299244"/>
                </a:cubicBezTo>
                <a:cubicBezTo>
                  <a:pt x="277049" y="317044"/>
                  <a:pt x="259616" y="330200"/>
                  <a:pt x="238919" y="330200"/>
                </a:cubicBezTo>
                <a:lnTo>
                  <a:pt x="216694" y="330200"/>
                </a:lnTo>
                <a:cubicBezTo>
                  <a:pt x="204401" y="330200"/>
                  <a:pt x="194469" y="320978"/>
                  <a:pt x="194469" y="309563"/>
                </a:cubicBezTo>
                <a:lnTo>
                  <a:pt x="194469" y="20638"/>
                </a:lnTo>
                <a:cubicBezTo>
                  <a:pt x="194469" y="922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6188"/>
                  <a:pt x="272256" y="36116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31" name="Text 29"/>
          <p:cNvSpPr/>
          <p:nvPr/>
        </p:nvSpPr>
        <p:spPr>
          <a:xfrm>
            <a:off x="5143500" y="6045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Predicciones en Tiempo Real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99000" y="64516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 datos nuevos con escalado automático vía scaler.json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28000" y="5943600"/>
            <a:ext cx="3429000" cy="12446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34" name="Shape 32"/>
          <p:cNvSpPr/>
          <p:nvPr/>
        </p:nvSpPr>
        <p:spPr>
          <a:xfrm>
            <a:off x="8382000" y="6045200"/>
            <a:ext cx="355600" cy="330200"/>
          </a:xfrm>
          <a:custGeom>
            <a:avLst/>
            <a:gdLst/>
            <a:ahLst/>
            <a:cxnLst/>
            <a:rect l="l" t="t" r="r" b="b"/>
            <a:pathLst>
              <a:path w="355600" h="330200">
                <a:moveTo>
                  <a:pt x="213360" y="20638"/>
                </a:moveTo>
                <a:lnTo>
                  <a:pt x="284480" y="20638"/>
                </a:lnTo>
                <a:cubicBezTo>
                  <a:pt x="294315" y="20638"/>
                  <a:pt x="302260" y="29860"/>
                  <a:pt x="302260" y="41275"/>
                </a:cubicBezTo>
                <a:cubicBezTo>
                  <a:pt x="302260" y="52690"/>
                  <a:pt x="294315" y="61912"/>
                  <a:pt x="284480" y="61912"/>
                </a:cubicBezTo>
                <a:lnTo>
                  <a:pt x="221361" y="61912"/>
                </a:lnTo>
                <a:cubicBezTo>
                  <a:pt x="218472" y="78551"/>
                  <a:pt x="208637" y="92288"/>
                  <a:pt x="195580" y="98867"/>
                </a:cubicBezTo>
                <a:lnTo>
                  <a:pt x="195580" y="288925"/>
                </a:lnTo>
                <a:lnTo>
                  <a:pt x="284480" y="288925"/>
                </a:lnTo>
                <a:cubicBezTo>
                  <a:pt x="294315" y="288925"/>
                  <a:pt x="302260" y="298147"/>
                  <a:pt x="302260" y="309563"/>
                </a:cubicBezTo>
                <a:cubicBezTo>
                  <a:pt x="302260" y="320978"/>
                  <a:pt x="294315" y="330200"/>
                  <a:pt x="284480" y="330200"/>
                </a:cubicBezTo>
                <a:lnTo>
                  <a:pt x="71120" y="330200"/>
                </a:lnTo>
                <a:cubicBezTo>
                  <a:pt x="61285" y="330200"/>
                  <a:pt x="53340" y="320978"/>
                  <a:pt x="53340" y="309563"/>
                </a:cubicBezTo>
                <a:cubicBezTo>
                  <a:pt x="53340" y="298147"/>
                  <a:pt x="61285" y="288925"/>
                  <a:pt x="71120" y="288925"/>
                </a:cubicBezTo>
                <a:lnTo>
                  <a:pt x="160020" y="288925"/>
                </a:lnTo>
                <a:lnTo>
                  <a:pt x="160020" y="98867"/>
                </a:lnTo>
                <a:cubicBezTo>
                  <a:pt x="146963" y="92224"/>
                  <a:pt x="137128" y="78487"/>
                  <a:pt x="134239" y="61913"/>
                </a:cubicBezTo>
                <a:lnTo>
                  <a:pt x="71120" y="61912"/>
                </a:lnTo>
                <a:cubicBezTo>
                  <a:pt x="61285" y="61912"/>
                  <a:pt x="53340" y="52690"/>
                  <a:pt x="53340" y="41275"/>
                </a:cubicBezTo>
                <a:cubicBezTo>
                  <a:pt x="53340" y="29860"/>
                  <a:pt x="61285" y="20638"/>
                  <a:pt x="71120" y="20638"/>
                </a:cubicBezTo>
                <a:lnTo>
                  <a:pt x="142240" y="20638"/>
                </a:lnTo>
                <a:cubicBezTo>
                  <a:pt x="150352" y="8126"/>
                  <a:pt x="163243" y="0"/>
                  <a:pt x="177800" y="0"/>
                </a:cubicBezTo>
                <a:cubicBezTo>
                  <a:pt x="192357" y="0"/>
                  <a:pt x="205248" y="8126"/>
                  <a:pt x="213360" y="20638"/>
                </a:cubicBezTo>
                <a:close/>
                <a:moveTo>
                  <a:pt x="244253" y="206375"/>
                </a:moveTo>
                <a:lnTo>
                  <a:pt x="324707" y="206375"/>
                </a:lnTo>
                <a:lnTo>
                  <a:pt x="284480" y="126276"/>
                </a:lnTo>
                <a:lnTo>
                  <a:pt x="244253" y="206375"/>
                </a:lnTo>
                <a:close/>
                <a:moveTo>
                  <a:pt x="284480" y="268288"/>
                </a:moveTo>
                <a:cubicBezTo>
                  <a:pt x="249531" y="268288"/>
                  <a:pt x="220472" y="246360"/>
                  <a:pt x="214471" y="217403"/>
                </a:cubicBezTo>
                <a:cubicBezTo>
                  <a:pt x="213027" y="210309"/>
                  <a:pt x="215027" y="203021"/>
                  <a:pt x="218194" y="196701"/>
                </a:cubicBezTo>
                <a:lnTo>
                  <a:pt x="271089" y="91450"/>
                </a:lnTo>
                <a:cubicBezTo>
                  <a:pt x="273868" y="85904"/>
                  <a:pt x="278979" y="82550"/>
                  <a:pt x="284480" y="82550"/>
                </a:cubicBezTo>
                <a:cubicBezTo>
                  <a:pt x="289981" y="82550"/>
                  <a:pt x="295092" y="85968"/>
                  <a:pt x="297871" y="91450"/>
                </a:cubicBezTo>
                <a:lnTo>
                  <a:pt x="350766" y="196701"/>
                </a:lnTo>
                <a:cubicBezTo>
                  <a:pt x="353933" y="203021"/>
                  <a:pt x="355933" y="210309"/>
                  <a:pt x="354489" y="217403"/>
                </a:cubicBezTo>
                <a:cubicBezTo>
                  <a:pt x="348488" y="246296"/>
                  <a:pt x="319429" y="268288"/>
                  <a:pt x="284480" y="268288"/>
                </a:cubicBezTo>
                <a:close/>
                <a:moveTo>
                  <a:pt x="70453" y="126276"/>
                </a:moveTo>
                <a:lnTo>
                  <a:pt x="30226" y="206375"/>
                </a:lnTo>
                <a:lnTo>
                  <a:pt x="110736" y="206375"/>
                </a:lnTo>
                <a:lnTo>
                  <a:pt x="70453" y="126276"/>
                </a:lnTo>
                <a:close/>
                <a:moveTo>
                  <a:pt x="500" y="217403"/>
                </a:moveTo>
                <a:cubicBezTo>
                  <a:pt x="-945" y="210309"/>
                  <a:pt x="1056" y="203021"/>
                  <a:pt x="4223" y="196701"/>
                </a:cubicBezTo>
                <a:lnTo>
                  <a:pt x="57118" y="91450"/>
                </a:lnTo>
                <a:cubicBezTo>
                  <a:pt x="59896" y="85904"/>
                  <a:pt x="65008" y="82550"/>
                  <a:pt x="70509" y="82550"/>
                </a:cubicBezTo>
                <a:cubicBezTo>
                  <a:pt x="76010" y="82550"/>
                  <a:pt x="81121" y="85968"/>
                  <a:pt x="83899" y="91450"/>
                </a:cubicBezTo>
                <a:lnTo>
                  <a:pt x="136795" y="196701"/>
                </a:lnTo>
                <a:cubicBezTo>
                  <a:pt x="139962" y="203021"/>
                  <a:pt x="141962" y="210309"/>
                  <a:pt x="140518" y="217403"/>
                </a:cubicBezTo>
                <a:cubicBezTo>
                  <a:pt x="134517" y="246296"/>
                  <a:pt x="105458" y="268288"/>
                  <a:pt x="70509" y="268288"/>
                </a:cubicBezTo>
                <a:cubicBezTo>
                  <a:pt x="35560" y="268288"/>
                  <a:pt x="6501" y="246360"/>
                  <a:pt x="500" y="217403"/>
                </a:cubicBez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35" name="Text 33"/>
          <p:cNvSpPr/>
          <p:nvPr/>
        </p:nvSpPr>
        <p:spPr>
          <a:xfrm>
            <a:off x="8826500" y="6045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Comparación de Modelos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82000" y="64516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Métricas lado a lado: RNN, LSTM y GRU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811000" y="5943600"/>
            <a:ext cx="3683000" cy="1244600"/>
          </a:xfrm>
          <a:prstGeom prst="roundRect">
            <a:avLst>
              <a:gd name="adj" fmla="val 4000"/>
            </a:avLst>
          </a:prstGeom>
          <a:solidFill>
            <a:srgbClr val="E8EDE9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65000" y="6045200"/>
            <a:ext cx="355600" cy="330200"/>
          </a:xfrm>
          <a:custGeom>
            <a:avLst/>
            <a:gdLst/>
            <a:ahLst/>
            <a:cxnLst/>
            <a:rect l="l" t="t" r="r" b="b"/>
            <a:pathLst>
              <a:path w="355600" h="330200">
                <a:moveTo>
                  <a:pt x="177800" y="41275"/>
                </a:moveTo>
                <a:cubicBezTo>
                  <a:pt x="243240" y="41275"/>
                  <a:pt x="296333" y="96738"/>
                  <a:pt x="296333" y="165100"/>
                </a:cubicBezTo>
                <a:cubicBezTo>
                  <a:pt x="296333" y="233462"/>
                  <a:pt x="243240" y="288925"/>
                  <a:pt x="177800" y="288925"/>
                </a:cubicBezTo>
                <a:cubicBezTo>
                  <a:pt x="137548" y="288925"/>
                  <a:pt x="101926" y="267965"/>
                  <a:pt x="80504" y="235848"/>
                </a:cubicBezTo>
                <a:cubicBezTo>
                  <a:pt x="74269" y="226497"/>
                  <a:pt x="61921" y="224239"/>
                  <a:pt x="52970" y="230753"/>
                </a:cubicBezTo>
                <a:cubicBezTo>
                  <a:pt x="44018" y="237267"/>
                  <a:pt x="41857" y="250165"/>
                  <a:pt x="48092" y="259517"/>
                </a:cubicBezTo>
                <a:cubicBezTo>
                  <a:pt x="76615" y="302210"/>
                  <a:pt x="124090" y="330200"/>
                  <a:pt x="177800" y="330200"/>
                </a:cubicBezTo>
                <a:cubicBezTo>
                  <a:pt x="265095" y="330200"/>
                  <a:pt x="335844" y="256292"/>
                  <a:pt x="335844" y="165100"/>
                </a:cubicBezTo>
                <a:cubicBezTo>
                  <a:pt x="335844" y="73908"/>
                  <a:pt x="265095" y="0"/>
                  <a:pt x="177800" y="0"/>
                </a:cubicBezTo>
                <a:cubicBezTo>
                  <a:pt x="124892" y="0"/>
                  <a:pt x="78096" y="27151"/>
                  <a:pt x="49389" y="68813"/>
                </a:cubicBezTo>
                <a:lnTo>
                  <a:pt x="49389" y="51594"/>
                </a:lnTo>
                <a:cubicBezTo>
                  <a:pt x="49389" y="40179"/>
                  <a:pt x="40561" y="30956"/>
                  <a:pt x="29633" y="30956"/>
                </a:cubicBezTo>
                <a:cubicBezTo>
                  <a:pt x="18706" y="30956"/>
                  <a:pt x="9878" y="40179"/>
                  <a:pt x="9878" y="51594"/>
                </a:cubicBezTo>
                <a:lnTo>
                  <a:pt x="9878" y="123825"/>
                </a:lnTo>
                <a:cubicBezTo>
                  <a:pt x="9878" y="135240"/>
                  <a:pt x="18706" y="144463"/>
                  <a:pt x="29633" y="144463"/>
                </a:cubicBezTo>
                <a:lnTo>
                  <a:pt x="44820" y="144463"/>
                </a:lnTo>
                <a:cubicBezTo>
                  <a:pt x="45129" y="144463"/>
                  <a:pt x="45438" y="144463"/>
                  <a:pt x="45746" y="144463"/>
                </a:cubicBezTo>
                <a:lnTo>
                  <a:pt x="98840" y="144463"/>
                </a:lnTo>
                <a:cubicBezTo>
                  <a:pt x="109767" y="144463"/>
                  <a:pt x="118595" y="135240"/>
                  <a:pt x="118595" y="123825"/>
                </a:cubicBezTo>
                <a:cubicBezTo>
                  <a:pt x="118595" y="112410"/>
                  <a:pt x="109767" y="103188"/>
                  <a:pt x="98840" y="103188"/>
                </a:cubicBezTo>
                <a:lnTo>
                  <a:pt x="75195" y="103188"/>
                </a:lnTo>
                <a:cubicBezTo>
                  <a:pt x="95629" y="66169"/>
                  <a:pt x="133967" y="41275"/>
                  <a:pt x="177800" y="41275"/>
                </a:cubicBezTo>
                <a:close/>
                <a:moveTo>
                  <a:pt x="192617" y="98028"/>
                </a:moveTo>
                <a:cubicBezTo>
                  <a:pt x="192617" y="89451"/>
                  <a:pt x="186011" y="82550"/>
                  <a:pt x="177800" y="82550"/>
                </a:cubicBezTo>
                <a:cubicBezTo>
                  <a:pt x="169589" y="82550"/>
                  <a:pt x="162983" y="89451"/>
                  <a:pt x="162983" y="98028"/>
                </a:cubicBezTo>
                <a:lnTo>
                  <a:pt x="162983" y="165100"/>
                </a:lnTo>
                <a:cubicBezTo>
                  <a:pt x="162983" y="169227"/>
                  <a:pt x="164527" y="173162"/>
                  <a:pt x="167305" y="176064"/>
                </a:cubicBezTo>
                <a:lnTo>
                  <a:pt x="211755" y="222498"/>
                </a:lnTo>
                <a:cubicBezTo>
                  <a:pt x="217558" y="228560"/>
                  <a:pt x="226942" y="228560"/>
                  <a:pt x="232683" y="222498"/>
                </a:cubicBezTo>
                <a:cubicBezTo>
                  <a:pt x="238425" y="216436"/>
                  <a:pt x="238487" y="206633"/>
                  <a:pt x="232683" y="200635"/>
                </a:cubicBezTo>
                <a:lnTo>
                  <a:pt x="192555" y="158715"/>
                </a:lnTo>
                <a:lnTo>
                  <a:pt x="192555" y="98028"/>
                </a:lnTo>
                <a:close/>
              </a:path>
            </a:pathLst>
          </a:custGeom>
          <a:solidFill>
            <a:srgbClr val="1B4332"/>
          </a:solidFill>
          <a:ln/>
        </p:spPr>
      </p:sp>
      <p:sp>
        <p:nvSpPr>
          <p:cNvPr id="39" name="Text 37"/>
          <p:cNvSpPr/>
          <p:nvPr/>
        </p:nvSpPr>
        <p:spPr>
          <a:xfrm>
            <a:off x="12509500" y="60452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B4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Forecasting Interactivo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065000" y="6451600"/>
            <a:ext cx="317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Selección de horizonte (24h o 168h) con gráfico de confianza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exdz5ytndv64/mnt/agents/output/prediccion-consumo/images/4_Stunning_Night_View_of_City_Skyline.png"/>
          <p:cNvPicPr>
            <a:picLocks noChangeAspect="1"/>
          </p:cNvPicPr>
          <p:nvPr/>
        </p:nvPicPr>
        <p:blipFill>
          <a:blip r:embed="rId3"/>
          <a:srcRect l="222" r="22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B4332">
                  <a:alpha val="94000"/>
                </a:srgbClr>
              </a:gs>
              <a:gs pos="55000">
                <a:srgbClr val="1B4332">
                  <a:alpha val="91000"/>
                </a:srgbClr>
              </a:gs>
              <a:gs pos="100000">
                <a:srgbClr val="1B4332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101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b="1" kern="0" spc="400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16000" y="1460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Resultados y Hallazgos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016000" y="2222500"/>
            <a:ext cx="1016000" cy="381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Shape 4"/>
          <p:cNvSpPr/>
          <p:nvPr/>
        </p:nvSpPr>
        <p:spPr>
          <a:xfrm>
            <a:off x="1016000" y="2540000"/>
            <a:ext cx="6858000" cy="1206500"/>
          </a:xfrm>
          <a:prstGeom prst="roundRect">
            <a:avLst>
              <a:gd name="adj" fmla="val 4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206500" y="26035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905000" y="2603500"/>
            <a:ext cx="5715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PySpark habilitó el procesamiento de 2M+ registros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un pipeline híbrido pandas+PySpark que optimiza cada operación según su naturaleza secuencial o distribuible.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16000" y="3873500"/>
            <a:ext cx="6858000" cy="1206500"/>
          </a:xfrm>
          <a:prstGeom prst="roundRect">
            <a:avLst>
              <a:gd name="adj" fmla="val 4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81100" y="3937000"/>
            <a:ext cx="685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905000" y="3937000"/>
            <a:ext cx="5715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agregación horaria redujo dimensionalidad 60×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(2,075,259 → ~35,000 registros) sin perder ciclos estacionales, comprimiendo información relevante.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16000" y="5207000"/>
            <a:ext cx="6858000" cy="1206500"/>
          </a:xfrm>
          <a:prstGeom prst="roundRect">
            <a:avLst>
              <a:gd name="adj" fmla="val 4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168400" y="5270500"/>
            <a:ext cx="71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905000" y="5270500"/>
            <a:ext cx="5715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GRU ofrece el mejor trade-off precisión/velocidad.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Métricas similares a LSTM (RMSE 0.4918 vs 0.4924) con 23 épocas vs 25 y ~25-30% menos parámetros.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16000" y="6540500"/>
            <a:ext cx="6858000" cy="1206500"/>
          </a:xfrm>
          <a:prstGeom prst="roundRect">
            <a:avLst>
              <a:gd name="adj" fmla="val 4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181100" y="6604000"/>
            <a:ext cx="685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905000" y="6604000"/>
            <a:ext cx="5715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RNN capturan ciclos diarios, semanales y estacionales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 consumo eléctrico. Las compuertas de LSTM/GRU son clave para recordar patrones lejanos en el tiempo.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382000" y="2540000"/>
            <a:ext cx="7112000" cy="5270500"/>
          </a:xfrm>
          <a:prstGeom prst="roundRect">
            <a:avLst>
              <a:gd name="adj" fmla="val 3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699500" y="27940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Trabajo Futuro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699500" y="3238500"/>
            <a:ext cx="6477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Explorar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 mechanisms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(Transformer) para capturar dependencias aún más largas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Probar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híbridos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CNN+LSTM para extraer features locales + temporales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Incorporar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externos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temperatura, precio de electricidad, día festivo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Optimizar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hiperparámetros con Optuna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 búsqueda bayesiana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Desplegar modelo en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real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Kafka + Spark Streaming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Extender a 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múltiples hogares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modelos multi-task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16000" y="80645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Gracias — ¿Preguntas?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4986000" y="87884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00" dirty="0">
                <a:solidFill>
                  <a:srgbClr val="5279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 / 26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4290</Words>
  <Application>Microsoft Office PowerPoint</Application>
  <PresentationFormat>Personalizado</PresentationFormat>
  <Paragraphs>790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Quattrocento Sans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del Consumo Eléctrico Residencial con Deep Learning</dc:title>
  <dc:subject>Predicción del Consumo Eléctrico Residencial con Deep Learning</dc:subject>
  <dc:creator>Kimi</dc:creator>
  <cp:lastModifiedBy>ReNzO Israel Tovar Moscol</cp:lastModifiedBy>
  <cp:revision>2</cp:revision>
  <dcterms:created xsi:type="dcterms:W3CDTF">2026-06-26T19:18:09Z</dcterms:created>
  <dcterms:modified xsi:type="dcterms:W3CDTF">2026-06-26T22:23:44Z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{"Label":"Predicción del Consumo Eléctrico Residencial con Deep Learning","ContentProducer":"001191110108MACG2KBH8F10000","ProduceID":"19f05424-ad82-84c2-8000-000055b27602","ReservedCode1":"","ContentPropagator":"001191110108MACG2KBH8F20000","PropagateID":"19f053c5-1bd2-8fb1-8000-0928ff171b9c","ReservedCode2":""}</vt:lpwstr>
  </property>
</Properties>
</file>